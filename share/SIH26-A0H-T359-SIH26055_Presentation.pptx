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6858000" cx="12192000"/>
  <p:notesSz cx="6858000" cy="9144000"/>
  <p:embeddedFontLst>
    <p:embeddedFont>
      <p:font typeface="Garamond"/>
      <p:regular r:id="rId13"/>
      <p:bold r:id="rId14"/>
      <p:italic r:id="rId15"/>
      <p:boldItalic r:id="rId16"/>
    </p:embeddedFont>
    <p:embeddedFont>
      <p:font typeface="Oswald"/>
      <p:regular r:id="rId17"/>
      <p:bold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19" roundtripDataSignature="AMtx7mhbjllQfo/JFNlulQXUiIgdaKvjo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07DB028-0402-41C2-98A6-F34E78E191DF}">
  <a:tblStyle styleId="{307DB028-0402-41C2-98A6-F34E78E191DF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Garamond-regular.fntdata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Garamond-italic.fntdata"/><Relationship Id="rId14" Type="http://schemas.openxmlformats.org/officeDocument/2006/relationships/font" Target="fonts/Garamond-bold.fntdata"/><Relationship Id="rId17" Type="http://schemas.openxmlformats.org/officeDocument/2006/relationships/font" Target="fonts/Oswald-regular.fntdata"/><Relationship Id="rId16" Type="http://schemas.openxmlformats.org/officeDocument/2006/relationships/font" Target="fonts/Garamond-boldItalic.fntdata"/><Relationship Id="rId5" Type="http://schemas.openxmlformats.org/officeDocument/2006/relationships/slideMaster" Target="slideMasters/slideMaster1.xml"/><Relationship Id="rId19" Type="http://customschemas.google.com/relationships/presentationmetadata" Target="metadata"/><Relationship Id="rId6" Type="http://schemas.openxmlformats.org/officeDocument/2006/relationships/notesMaster" Target="notesMasters/notesMaster1.xml"/><Relationship Id="rId18" Type="http://schemas.openxmlformats.org/officeDocument/2006/relationships/font" Target="fonts/Oswald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1" name="Google Shape;12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50" name="Google Shape;15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63" name="Google Shape;16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8" name="Google Shape;18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"/>
          <p:cNvSpPr txBox="1"/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8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8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8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8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9"/>
          <p:cNvSpPr txBox="1"/>
          <p:nvPr>
            <p:ph idx="1" type="body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9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9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9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0"/>
          <p:cNvSpPr txBox="1"/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0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0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0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0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1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1"/>
          <p:cNvSpPr txBox="1"/>
          <p:nvPr>
            <p:ph idx="1" type="body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1"/>
          <p:cNvSpPr txBox="1"/>
          <p:nvPr>
            <p:ph idx="2" type="body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1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1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1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2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2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2"/>
          <p:cNvSpPr txBox="1"/>
          <p:nvPr>
            <p:ph idx="3" type="body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2"/>
          <p:cNvSpPr txBox="1"/>
          <p:nvPr>
            <p:ph idx="4" type="body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2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3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5"/>
          <p:cNvSpPr txBox="1"/>
          <p:nvPr>
            <p:ph idx="2" type="body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15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6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 rot="5400000">
            <a:off x="3580606" y="-1875631"/>
            <a:ext cx="5030788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 rot="5400000">
            <a:off x="7285038" y="1828804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 rot="5400000">
            <a:off x="1697038" y="-812796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8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8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1" name="Google Shape;11;p7"/>
          <p:cNvSpPr txBox="1"/>
          <p:nvPr>
            <p:ph idx="1" type="body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7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7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7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1" Type="http://schemas.openxmlformats.org/officeDocument/2006/relationships/hyperlink" Target="https://www.analog.com/media/en/technical-documentation/data-sheets/adf4371.pdf" TargetMode="External"/><Relationship Id="rId10" Type="http://schemas.openxmlformats.org/officeDocument/2006/relationships/hyperlink" Target="https://doi.org/10.1137/S0097539701398375" TargetMode="External"/><Relationship Id="rId13" Type="http://schemas.openxmlformats.org/officeDocument/2006/relationships/image" Target="../media/image1.png"/><Relationship Id="rId12" Type="http://schemas.openxmlformats.org/officeDocument/2006/relationships/hyperlink" Target="https://www.ti.com/lit/ds/symlink/lmx2594.pdf" TargetMode="Externa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arxiv.org/abs/2602.03856" TargetMode="External"/><Relationship Id="rId4" Type="http://schemas.openxmlformats.org/officeDocument/2006/relationships/hyperlink" Target="https://huggingface.co/datasets/alan-turing-institute/turing-synthetic-radar-dataset" TargetMode="External"/><Relationship Id="rId9" Type="http://schemas.openxmlformats.org/officeDocument/2006/relationships/hyperlink" Target="https://arxiv.org/abs/1511.05952" TargetMode="External"/><Relationship Id="rId5" Type="http://schemas.openxmlformats.org/officeDocument/2006/relationships/hyperlink" Target="https://doi.org/10.1049/ip-f-1.1982.0025" TargetMode="External"/><Relationship Id="rId6" Type="http://schemas.openxmlformats.org/officeDocument/2006/relationships/hyperlink" Target="https://doi.org/10.1049/ip-f-2.1989.0025" TargetMode="External"/><Relationship Id="rId7" Type="http://schemas.openxmlformats.org/officeDocument/2006/relationships/hyperlink" Target="https://doi.org/10.1049/ip-f-2.1992.0012" TargetMode="External"/><Relationship Id="rId8" Type="http://schemas.openxmlformats.org/officeDocument/2006/relationships/hyperlink" Target="https://doi.org/10.1038/nature14236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152400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5656780" y="851521"/>
            <a:ext cx="4638605" cy="5154967"/>
          </a:xfrm>
          <a:custGeom>
            <a:rect b="b" l="l" r="r" t="t"/>
            <a:pathLst>
              <a:path extrusionOk="0" h="5154967" w="6184806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rgbClr val="7F7F7F">
              <a:alpha val="14902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" name="Google Shape;90;p1"/>
          <p:cNvPicPr preferRelativeResize="0"/>
          <p:nvPr/>
        </p:nvPicPr>
        <p:blipFill rotWithShape="1">
          <a:blip r:embed="rId3">
            <a:alphaModFix/>
          </a:blip>
          <a:srcRect b="0" l="0" r="59916" t="0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"/>
          <p:cNvSpPr txBox="1"/>
          <p:nvPr>
            <p:ph idx="1" type="subTitle"/>
          </p:nvPr>
        </p:nvSpPr>
        <p:spPr>
          <a:xfrm>
            <a:off x="1245686" y="648614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TITLE PAGE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"/>
          <p:cNvSpPr txBox="1"/>
          <p:nvPr>
            <p:ph type="ctrTitle"/>
          </p:nvPr>
        </p:nvSpPr>
        <p:spPr>
          <a:xfrm>
            <a:off x="331286" y="-526757"/>
            <a:ext cx="10363200" cy="2076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SMART INDIA HACKATHON 2026</a:t>
            </a:r>
            <a:endParaRPr b="1" sz="4000">
              <a:solidFill>
                <a:schemeClr val="dk2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331286" y="2076450"/>
            <a:ext cx="11100398" cy="46866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Statement ID – 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SIH26055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Statement Title- 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Smart Scan strategy for Electronic Warfare</a:t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Theme- 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Robotics and Drones</a:t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PS Category- Software</a:t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ID- SIH26-A0H-T359</a:t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Name – Half Squadron</a:t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4" name="Google Shape;94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 txBox="1"/>
          <p:nvPr>
            <p:ph type="title"/>
          </p:nvPr>
        </p:nvSpPr>
        <p:spPr>
          <a:xfrm>
            <a:off x="182998" y="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IDEA TITLE</a:t>
            </a:r>
            <a:endParaRPr/>
          </a:p>
        </p:txBody>
      </p:sp>
      <p:sp>
        <p:nvSpPr>
          <p:cNvPr id="102" name="Google Shape;102;p2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03" name="Google Shape;103;p2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@SIH Idea submission- Template</a:t>
            </a:r>
            <a:endParaRPr/>
          </a:p>
        </p:txBody>
      </p:sp>
      <p:pic>
        <p:nvPicPr>
          <p:cNvPr id="104" name="Google Shape;10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5976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5" name="Google Shape;105;p2"/>
          <p:cNvGrpSpPr/>
          <p:nvPr/>
        </p:nvGrpSpPr>
        <p:grpSpPr>
          <a:xfrm>
            <a:off x="751010" y="1512864"/>
            <a:ext cx="10833752" cy="4464874"/>
            <a:chOff x="3387" y="113946"/>
            <a:chExt cx="10833752" cy="4464874"/>
          </a:xfrm>
        </p:grpSpPr>
        <p:sp>
          <p:nvSpPr>
            <p:cNvPr id="106" name="Google Shape;106;p2"/>
            <p:cNvSpPr/>
            <p:nvPr/>
          </p:nvSpPr>
          <p:spPr>
            <a:xfrm>
              <a:off x="3387" y="113946"/>
              <a:ext cx="3302973" cy="489600"/>
            </a:xfrm>
            <a:prstGeom prst="rect">
              <a:avLst/>
            </a:prstGeom>
            <a:solidFill>
              <a:srgbClr val="4AA9C4"/>
            </a:solidFill>
            <a:ln cap="flat" cmpd="sng" w="25400">
              <a:solidFill>
                <a:srgbClr val="4AA9C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2"/>
            <p:cNvSpPr txBox="1"/>
            <p:nvPr/>
          </p:nvSpPr>
          <p:spPr>
            <a:xfrm>
              <a:off x="3387" y="113946"/>
              <a:ext cx="3302973" cy="48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9075" lIns="120900" spcFirstLastPara="1" rIns="120900" wrap="square" tIns="690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Calibri"/>
                <a:buNone/>
              </a:pPr>
              <a:r>
                <a:rPr lang="en-US" sz="17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The Problem</a:t>
              </a:r>
              <a:endParaRPr/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3387" y="603546"/>
              <a:ext cx="3302973" cy="3975274"/>
            </a:xfrm>
            <a:prstGeom prst="rect">
              <a:avLst/>
            </a:prstGeom>
            <a:solidFill>
              <a:srgbClr val="CEE2E9">
                <a:alpha val="90196"/>
              </a:srgbClr>
            </a:solidFill>
            <a:ln cap="flat" cmpd="sng" w="25400">
              <a:solidFill>
                <a:srgbClr val="CEE2E9">
                  <a:alpha val="90196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2"/>
            <p:cNvSpPr txBox="1"/>
            <p:nvPr/>
          </p:nvSpPr>
          <p:spPr>
            <a:xfrm>
              <a:off x="3387" y="603546"/>
              <a:ext cx="3302973" cy="39752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36000" lIns="90675" spcFirstLastPara="1" rIns="120900" wrap="square" tIns="90675">
              <a:noAutofit/>
            </a:bodyPr>
            <a:lstStyle/>
            <a:p>
              <a:pPr indent="-171450" lvl="1" marL="1714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Calibri"/>
                <a:buChar char="•"/>
              </a:pPr>
              <a:r>
                <a:rPr b="0" i="0" lang="en-US" sz="17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Monitoring 0.5-18.0 GHz spectrum via 500 MHz IBW across 35 discrete channels against agile radars</a:t>
              </a:r>
              <a:endParaRPr/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255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Calibri"/>
                <a:buChar char="•"/>
              </a:pPr>
              <a:r>
                <a:rPr b="0" i="0" lang="en-US" sz="17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Literature ignores LO settling blind time (15-50 us), dropping pulses during hops</a:t>
              </a:r>
              <a:endParaRPr/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255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Calibri"/>
                <a:buChar char="•"/>
              </a:pPr>
              <a:r>
                <a:rPr b="0" i="0" lang="en-US" sz="17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Standard AI models suffer catastrophic forgetting under chaotic adversarial agility</a:t>
              </a:r>
              <a:endParaRPr/>
            </a:p>
          </p:txBody>
        </p:sp>
        <p:sp>
          <p:nvSpPr>
            <p:cNvPr id="110" name="Google Shape;110;p2"/>
            <p:cNvSpPr/>
            <p:nvPr/>
          </p:nvSpPr>
          <p:spPr>
            <a:xfrm>
              <a:off x="3768776" y="113946"/>
              <a:ext cx="3302973" cy="489600"/>
            </a:xfrm>
            <a:prstGeom prst="rect">
              <a:avLst/>
            </a:prstGeom>
            <a:solidFill>
              <a:srgbClr val="5FDF45"/>
            </a:solidFill>
            <a:ln cap="flat" cmpd="sng" w="25400">
              <a:solidFill>
                <a:srgbClr val="5FDF4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2"/>
            <p:cNvSpPr txBox="1"/>
            <p:nvPr/>
          </p:nvSpPr>
          <p:spPr>
            <a:xfrm>
              <a:off x="3768776" y="113946"/>
              <a:ext cx="3302973" cy="48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9075" lIns="120900" spcFirstLastPara="1" rIns="120900" wrap="square" tIns="690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Calibri"/>
                <a:buNone/>
              </a:pPr>
              <a:r>
                <a:rPr lang="en-US" sz="17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Our Solution</a:t>
              </a:r>
              <a:endParaRPr/>
            </a:p>
          </p:txBody>
        </p:sp>
        <p:sp>
          <p:nvSpPr>
            <p:cNvPr id="112" name="Google Shape;112;p2"/>
            <p:cNvSpPr/>
            <p:nvPr/>
          </p:nvSpPr>
          <p:spPr>
            <a:xfrm>
              <a:off x="3768776" y="603546"/>
              <a:ext cx="3302973" cy="3975274"/>
            </a:xfrm>
            <a:prstGeom prst="rect">
              <a:avLst/>
            </a:prstGeom>
            <a:solidFill>
              <a:srgbClr val="D2F2CB">
                <a:alpha val="90196"/>
              </a:srgbClr>
            </a:solidFill>
            <a:ln cap="flat" cmpd="sng" w="25400">
              <a:solidFill>
                <a:srgbClr val="D2F2CB">
                  <a:alpha val="90196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2"/>
            <p:cNvSpPr txBox="1"/>
            <p:nvPr/>
          </p:nvSpPr>
          <p:spPr>
            <a:xfrm>
              <a:off x="3768776" y="603546"/>
              <a:ext cx="3302973" cy="39752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36000" lIns="90675" spcFirstLastPara="1" rIns="120900" wrap="square" tIns="90675">
              <a:noAutofit/>
            </a:bodyPr>
            <a:lstStyle/>
            <a:p>
              <a:pPr indent="-171450" lvl="1" marL="1714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Calibri"/>
                <a:buChar char="•"/>
              </a:pPr>
              <a:r>
                <a:rPr b="0" i="0" lang="en-US" sz="17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Dual-engine scan strategy dynamically allocates 500 MHz receiver dwells across 35 sub-bands</a:t>
              </a:r>
              <a:endParaRPr/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255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Calibri"/>
                <a:buChar char="•"/>
              </a:pPr>
              <a:r>
                <a:rPr b="0" i="0" lang="en-US" sz="17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Engine A (</a:t>
              </a:r>
              <a:r>
                <a:rPr lang="en-US" sz="17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RL</a:t>
              </a:r>
              <a:r>
                <a:rPr b="0" i="0" lang="en-US" sz="17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) predicts structured radar patterns to maximize intercept in 2-10 ms dwells</a:t>
              </a:r>
              <a:endParaRPr/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255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Calibri"/>
                <a:buChar char="•"/>
              </a:pPr>
              <a:r>
                <a:rPr b="0" i="0" lang="en-US" sz="17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Engine B (</a:t>
              </a:r>
              <a:r>
                <a:rPr lang="en-US" sz="17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Adversarial</a:t>
              </a:r>
              <a:r>
                <a:rPr b="0" i="0" lang="en-US" sz="17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Bandit) bounds worst-case regret to catch chaotic pseudo-random frequency hops</a:t>
              </a:r>
              <a:endParaRPr/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255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Calibri"/>
                <a:buChar char="•"/>
              </a:pPr>
              <a:r>
                <a:rPr b="0" i="0" lang="en-US" sz="17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Hysteresis dispatcher transitions between </a:t>
              </a:r>
              <a:r>
                <a:rPr lang="en-US" sz="17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RL</a:t>
              </a:r>
              <a:r>
                <a:rPr b="0" i="0" lang="en-US" sz="17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and </a:t>
              </a:r>
              <a:r>
                <a:rPr lang="en-US" sz="17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AB</a:t>
              </a:r>
              <a:r>
                <a:rPr b="0" i="0" lang="en-US" sz="17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without decision thrashing</a:t>
              </a:r>
              <a:endParaRPr/>
            </a:p>
          </p:txBody>
        </p:sp>
        <p:sp>
          <p:nvSpPr>
            <p:cNvPr id="114" name="Google Shape;114;p2"/>
            <p:cNvSpPr/>
            <p:nvPr/>
          </p:nvSpPr>
          <p:spPr>
            <a:xfrm>
              <a:off x="7534166" y="113946"/>
              <a:ext cx="3302973" cy="489600"/>
            </a:xfrm>
            <a:prstGeom prst="rect">
              <a:avLst/>
            </a:prstGeom>
            <a:solidFill>
              <a:srgbClr val="F69444"/>
            </a:solidFill>
            <a:ln cap="flat" cmpd="sng" w="25400">
              <a:solidFill>
                <a:srgbClr val="F69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2"/>
            <p:cNvSpPr txBox="1"/>
            <p:nvPr/>
          </p:nvSpPr>
          <p:spPr>
            <a:xfrm>
              <a:off x="7534166" y="113946"/>
              <a:ext cx="3302973" cy="48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9075" lIns="120900" spcFirstLastPara="1" rIns="120900" wrap="square" tIns="690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Calibri"/>
                <a:buNone/>
              </a:pPr>
              <a:r>
                <a:rPr lang="en-US" sz="17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Our Uniqueness</a:t>
              </a:r>
              <a:endParaRPr/>
            </a:p>
          </p:txBody>
        </p:sp>
        <p:sp>
          <p:nvSpPr>
            <p:cNvPr id="116" name="Google Shape;116;p2"/>
            <p:cNvSpPr/>
            <p:nvPr/>
          </p:nvSpPr>
          <p:spPr>
            <a:xfrm>
              <a:off x="7534166" y="603546"/>
              <a:ext cx="3302973" cy="3975274"/>
            </a:xfrm>
            <a:prstGeom prst="rect">
              <a:avLst/>
            </a:prstGeom>
            <a:solidFill>
              <a:srgbClr val="FBDACB">
                <a:alpha val="90196"/>
              </a:srgbClr>
            </a:solidFill>
            <a:ln cap="flat" cmpd="sng" w="25400">
              <a:solidFill>
                <a:srgbClr val="FBDACB">
                  <a:alpha val="90196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2"/>
            <p:cNvSpPr txBox="1"/>
            <p:nvPr/>
          </p:nvSpPr>
          <p:spPr>
            <a:xfrm>
              <a:off x="7534166" y="603546"/>
              <a:ext cx="3302973" cy="39752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36000" lIns="90675" spcFirstLastPara="1" rIns="120900" wrap="square" tIns="90675">
              <a:noAutofit/>
            </a:bodyPr>
            <a:lstStyle/>
            <a:p>
              <a:pPr indent="-171450" lvl="1" marL="1714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Calibri"/>
                <a:buChar char="•"/>
              </a:pPr>
              <a:r>
                <a:rPr b="0" i="0" lang="en-US" sz="17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Hardware-aware loss directly penalizes LO slew latency (15 us + 2 us/GHz) in the control loop</a:t>
              </a:r>
              <a:endParaRPr/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255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Calibri"/>
                <a:buChar char="•"/>
              </a:pPr>
              <a:r>
                <a:rPr b="0" i="0" lang="en-US" sz="17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Threat-weighted utility prioritizes low-duty lethal missile locks over dense civil radar signals</a:t>
              </a:r>
              <a:endParaRPr/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255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Calibri"/>
                <a:buChar char="•"/>
              </a:pPr>
              <a:r>
                <a:rPr b="0" i="0" lang="en-US" sz="17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Edge-optimized design (&lt;15k params) projected for sub-10 us inference on embedded FPGA SoCs</a:t>
              </a:r>
              <a:endParaRPr/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255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Calibri"/>
                <a:buChar char="•"/>
              </a:pPr>
              <a:r>
                <a:rPr b="0" i="0" lang="en-US" sz="17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Convex starvation barrier forces unvisited channel revisits before threat deadlines expire</a:t>
              </a:r>
              <a:endParaRPr/>
            </a:p>
          </p:txBody>
        </p:sp>
      </p:grpSp>
      <p:sp>
        <p:nvSpPr>
          <p:cNvPr descr="Your startup LOGO" id="118" name="Google Shape;118;p2"/>
          <p:cNvSpPr/>
          <p:nvPr/>
        </p:nvSpPr>
        <p:spPr>
          <a:xfrm>
            <a:off x="329773" y="252246"/>
            <a:ext cx="1627777" cy="817494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Half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Squadron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3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TECHNICAL APPROACH</a:t>
            </a:r>
            <a:endParaRPr/>
          </a:p>
        </p:txBody>
      </p:sp>
      <p:sp>
        <p:nvSpPr>
          <p:cNvPr id="126" name="Google Shape;126;p3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27" name="Google Shape;127;p3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@SIH Idea submission- Template</a:t>
            </a:r>
            <a:endParaRPr/>
          </a:p>
        </p:txBody>
      </p:sp>
      <p:pic>
        <p:nvPicPr>
          <p:cNvPr id="128" name="Google Shape;12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sp>
        <p:nvSpPr>
          <p:cNvPr descr="Your startup LOGO" id="129" name="Google Shape;129;p3"/>
          <p:cNvSpPr/>
          <p:nvPr/>
        </p:nvSpPr>
        <p:spPr>
          <a:xfrm>
            <a:off x="329773" y="252246"/>
            <a:ext cx="1627777" cy="817494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Half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Squadron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0" name="Google Shape;130;p3"/>
          <p:cNvGrpSpPr/>
          <p:nvPr/>
        </p:nvGrpSpPr>
        <p:grpSpPr>
          <a:xfrm>
            <a:off x="9776604" y="1474768"/>
            <a:ext cx="2041500" cy="4670513"/>
            <a:chOff x="0" y="47097"/>
            <a:chExt cx="2041500" cy="4670513"/>
          </a:xfrm>
        </p:grpSpPr>
        <p:sp>
          <p:nvSpPr>
            <p:cNvPr id="131" name="Google Shape;131;p3"/>
            <p:cNvSpPr/>
            <p:nvPr/>
          </p:nvSpPr>
          <p:spPr>
            <a:xfrm>
              <a:off x="0" y="47097"/>
              <a:ext cx="2041500" cy="563700"/>
            </a:xfrm>
            <a:prstGeom prst="roundRect">
              <a:avLst>
                <a:gd fmla="val 16667" name="adj"/>
              </a:avLst>
            </a:prstGeom>
            <a:solidFill>
              <a:srgbClr val="F59545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804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3"/>
            <p:cNvSpPr txBox="1"/>
            <p:nvPr/>
          </p:nvSpPr>
          <p:spPr>
            <a:xfrm>
              <a:off x="27515" y="74612"/>
              <a:ext cx="1986600" cy="50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0475" lIns="30475" spcFirstLastPara="1" rIns="30475" wrap="square" tIns="304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Calibri"/>
                <a:buNone/>
              </a:pPr>
              <a:r>
                <a:rPr b="0" lang="en-US" sz="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Core Language:</a:t>
              </a:r>
              <a:r>
                <a:rPr lang="en-US" sz="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Python 3.12 (100% Native, Air-Gapped, Zero Cloud Dependencies) </a:t>
              </a:r>
              <a:br>
                <a:rPr lang="en-US" sz="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endParaRPr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" name="Google Shape;133;p3"/>
            <p:cNvSpPr/>
            <p:nvPr/>
          </p:nvSpPr>
          <p:spPr>
            <a:xfrm>
              <a:off x="0" y="633785"/>
              <a:ext cx="2041500" cy="563700"/>
            </a:xfrm>
            <a:prstGeom prst="roundRect">
              <a:avLst>
                <a:gd fmla="val 16667" name="adj"/>
              </a:avLst>
            </a:prstGeom>
            <a:solidFill>
              <a:srgbClr val="F59545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804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3"/>
            <p:cNvSpPr txBox="1"/>
            <p:nvPr/>
          </p:nvSpPr>
          <p:spPr>
            <a:xfrm>
              <a:off x="27515" y="661300"/>
              <a:ext cx="1986600" cy="50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0475" lIns="30475" spcFirstLastPara="1" rIns="30475" wrap="square" tIns="304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Calibri"/>
                <a:buNone/>
              </a:pPr>
              <a:r>
                <a:rPr b="0" lang="en-US" sz="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Deep Reinforcement Learning:</a:t>
              </a:r>
              <a:r>
                <a:rPr lang="en-US" sz="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PyTorch</a:t>
              </a:r>
              <a:br>
                <a:rPr lang="en-US" sz="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endParaRPr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" name="Google Shape;135;p3"/>
            <p:cNvSpPr/>
            <p:nvPr/>
          </p:nvSpPr>
          <p:spPr>
            <a:xfrm>
              <a:off x="0" y="1220472"/>
              <a:ext cx="2041500" cy="563700"/>
            </a:xfrm>
            <a:prstGeom prst="roundRect">
              <a:avLst>
                <a:gd fmla="val 16667" name="adj"/>
              </a:avLst>
            </a:prstGeom>
            <a:solidFill>
              <a:srgbClr val="F59545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804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3"/>
            <p:cNvSpPr txBox="1"/>
            <p:nvPr/>
          </p:nvSpPr>
          <p:spPr>
            <a:xfrm>
              <a:off x="27515" y="1247987"/>
              <a:ext cx="1986600" cy="50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0475" lIns="30475" spcFirstLastPara="1" rIns="30475" wrap="square" tIns="304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Calibri"/>
                <a:buNone/>
              </a:pPr>
              <a:r>
                <a:rPr b="0" lang="en-US" sz="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Adversarial Bandit Framework:</a:t>
              </a:r>
              <a:r>
                <a:rPr lang="en-US" sz="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NumPy &amp; SciPy (Vectorized Adversarial Bandit  Regret-Minimization Engine) </a:t>
              </a:r>
              <a:br>
                <a:rPr lang="en-US" sz="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endParaRPr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" name="Google Shape;137;p3"/>
            <p:cNvSpPr/>
            <p:nvPr/>
          </p:nvSpPr>
          <p:spPr>
            <a:xfrm>
              <a:off x="0" y="1807160"/>
              <a:ext cx="2041500" cy="563700"/>
            </a:xfrm>
            <a:prstGeom prst="roundRect">
              <a:avLst>
                <a:gd fmla="val 16667" name="adj"/>
              </a:avLst>
            </a:prstGeom>
            <a:solidFill>
              <a:srgbClr val="F59545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804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3"/>
            <p:cNvSpPr txBox="1"/>
            <p:nvPr/>
          </p:nvSpPr>
          <p:spPr>
            <a:xfrm>
              <a:off x="27515" y="1834675"/>
              <a:ext cx="1986600" cy="50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0475" lIns="30475" spcFirstLastPara="1" rIns="30475" wrap="square" tIns="304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Calibri"/>
                <a:buNone/>
              </a:pPr>
              <a:r>
                <a:rPr b="0" lang="en-US" sz="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Environment &amp; Simulation:</a:t>
              </a:r>
              <a:r>
                <a:rPr lang="en-US" sz="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Gymnasium (Discrete-Event RF Dwell &amp; Blind-Time Simulation) </a:t>
              </a:r>
              <a:br>
                <a:rPr lang="en-US" sz="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endParaRPr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" name="Google Shape;139;p3"/>
            <p:cNvSpPr/>
            <p:nvPr/>
          </p:nvSpPr>
          <p:spPr>
            <a:xfrm>
              <a:off x="0" y="2393848"/>
              <a:ext cx="2041500" cy="563700"/>
            </a:xfrm>
            <a:prstGeom prst="roundRect">
              <a:avLst>
                <a:gd fmla="val 16667" name="adj"/>
              </a:avLst>
            </a:prstGeom>
            <a:solidFill>
              <a:srgbClr val="F59545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804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3"/>
            <p:cNvSpPr txBox="1"/>
            <p:nvPr/>
          </p:nvSpPr>
          <p:spPr>
            <a:xfrm>
              <a:off x="27515" y="2421363"/>
              <a:ext cx="1986600" cy="50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0475" lIns="30475" spcFirstLastPara="1" rIns="30475" wrap="square" tIns="304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Calibri"/>
                <a:buNone/>
              </a:pPr>
              <a:r>
                <a:rPr b="0" lang="en-US" sz="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PDW Ingestion &amp; Parsing:</a:t>
              </a:r>
              <a:r>
                <a:rPr lang="en-US" sz="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H5py &amp; Pandas (TSRD 5D Radar Stream I/O) </a:t>
              </a:r>
              <a:br>
                <a:rPr lang="en-US" sz="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endParaRPr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" name="Google Shape;141;p3"/>
            <p:cNvSpPr/>
            <p:nvPr/>
          </p:nvSpPr>
          <p:spPr>
            <a:xfrm>
              <a:off x="0" y="2980535"/>
              <a:ext cx="2041500" cy="563700"/>
            </a:xfrm>
            <a:prstGeom prst="roundRect">
              <a:avLst>
                <a:gd fmla="val 16667" name="adj"/>
              </a:avLst>
            </a:prstGeom>
            <a:solidFill>
              <a:srgbClr val="F59545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804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3"/>
            <p:cNvSpPr txBox="1"/>
            <p:nvPr/>
          </p:nvSpPr>
          <p:spPr>
            <a:xfrm>
              <a:off x="27515" y="3008050"/>
              <a:ext cx="1986600" cy="50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0475" lIns="30475" spcFirstLastPara="1" rIns="30475" wrap="square" tIns="304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Calibri"/>
                <a:buNone/>
              </a:pPr>
              <a:r>
                <a:rPr b="0" lang="en-US" sz="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De-Interleaving Algorithm:</a:t>
              </a:r>
              <a:r>
                <a:rPr lang="en-US" sz="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Streaming Sequential Difference Histogramming (SDIF Lineage) </a:t>
              </a:r>
              <a:br>
                <a:rPr lang="en-US" sz="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endParaRPr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" name="Google Shape;143;p3"/>
            <p:cNvSpPr/>
            <p:nvPr/>
          </p:nvSpPr>
          <p:spPr>
            <a:xfrm>
              <a:off x="0" y="3567223"/>
              <a:ext cx="2041500" cy="563700"/>
            </a:xfrm>
            <a:prstGeom prst="roundRect">
              <a:avLst>
                <a:gd fmla="val 16667" name="adj"/>
              </a:avLst>
            </a:prstGeom>
            <a:solidFill>
              <a:srgbClr val="F59545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804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3"/>
            <p:cNvSpPr txBox="1"/>
            <p:nvPr/>
          </p:nvSpPr>
          <p:spPr>
            <a:xfrm>
              <a:off x="27515" y="3594738"/>
              <a:ext cx="1986600" cy="50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0475" lIns="30475" spcFirstLastPara="1" rIns="30475" wrap="square" tIns="304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Calibri"/>
                <a:buNone/>
              </a:pPr>
              <a:r>
                <a:rPr b="0" lang="en-US" sz="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Synthesizer Latency Models:</a:t>
              </a:r>
              <a:r>
                <a:rPr lang="en-US" sz="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Analog Devices ADF4371 &amp; Texas Instruments LMX2594 PLL Specifications </a:t>
              </a:r>
              <a:br>
                <a:rPr lang="en-US" sz="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endParaRPr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" name="Google Shape;145;p3"/>
            <p:cNvSpPr/>
            <p:nvPr/>
          </p:nvSpPr>
          <p:spPr>
            <a:xfrm>
              <a:off x="0" y="4153910"/>
              <a:ext cx="2041500" cy="563700"/>
            </a:xfrm>
            <a:prstGeom prst="roundRect">
              <a:avLst>
                <a:gd fmla="val 16667" name="adj"/>
              </a:avLst>
            </a:prstGeom>
            <a:solidFill>
              <a:srgbClr val="F59545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804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3"/>
            <p:cNvSpPr txBox="1"/>
            <p:nvPr/>
          </p:nvSpPr>
          <p:spPr>
            <a:xfrm>
              <a:off x="27515" y="4181425"/>
              <a:ext cx="1986600" cy="50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0475" lIns="30475" spcFirstLastPara="1" rIns="30475" wrap="square" tIns="304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Calibri"/>
                <a:buNone/>
              </a:pPr>
              <a:r>
                <a:rPr b="0" lang="en-US" sz="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Target Embedded Hardware:</a:t>
              </a:r>
              <a:r>
                <a:rPr lang="en-US" sz="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AMD/Xilinx Zynq UltraScale+ RFSoC / NVIDIA Jetson Orin Nano </a:t>
              </a:r>
              <a:endParaRPr/>
            </a:p>
          </p:txBody>
        </p:sp>
      </p:grpSp>
      <p:pic>
        <p:nvPicPr>
          <p:cNvPr id="147" name="Google Shape;147;p3" title="Screenshot 2026-09-21 18112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4925" y="934300"/>
            <a:ext cx="8592276" cy="4751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4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4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FEASIBILITY AND VIABILITY</a:t>
            </a:r>
            <a:endParaRPr/>
          </a:p>
        </p:txBody>
      </p:sp>
      <p:sp>
        <p:nvSpPr>
          <p:cNvPr id="155" name="Google Shape;155;p4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6" name="Google Shape;156;p4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/>
          </a:p>
        </p:txBody>
      </p:sp>
      <p:sp>
        <p:nvSpPr>
          <p:cNvPr descr="Your startup LOGO" id="157" name="Google Shape;157;p4"/>
          <p:cNvSpPr/>
          <p:nvPr/>
        </p:nvSpPr>
        <p:spPr>
          <a:xfrm>
            <a:off x="329773" y="252246"/>
            <a:ext cx="1627777" cy="817494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Half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Squadron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8" name="Google Shape;15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9" name="Google Shape;159;p4"/>
          <p:cNvGraphicFramePr/>
          <p:nvPr/>
        </p:nvGraphicFramePr>
        <p:xfrm>
          <a:off x="614188" y="1217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{307DB028-0402-41C2-98A6-F34E78E191DF}</a:tableStyleId>
              </a:tblPr>
              <a:tblGrid>
                <a:gridCol w="3201325"/>
                <a:gridCol w="4036675"/>
                <a:gridCol w="3725625"/>
              </a:tblGrid>
              <a:tr h="657375">
                <a:tc>
                  <a:txBody>
                    <a:bodyPr/>
                    <a:lstStyle/>
                    <a:p>
                      <a:pPr indent="0" lvl="0" marL="88900" marR="8890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>
                          <a:solidFill>
                            <a:srgbClr val="FFFFFF"/>
                          </a:solidFill>
                        </a:rPr>
                        <a:t>Analysis of Feasibility</a:t>
                      </a:r>
                      <a:r>
                        <a:rPr b="1" lang="en-US" sz="1200">
                          <a:solidFill>
                            <a:srgbClr val="FFFFFF"/>
                          </a:solidFill>
                        </a:rPr>
                        <a:t>​</a:t>
                      </a:r>
                      <a:endParaRPr b="1" sz="12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88900" marR="8890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>
                          <a:solidFill>
                            <a:srgbClr val="FFFFFF"/>
                          </a:solidFill>
                        </a:rPr>
                        <a:t>Potential Challenges &amp; Risks</a:t>
                      </a:r>
                      <a:r>
                        <a:rPr b="1" lang="en-US" sz="1200">
                          <a:solidFill>
                            <a:srgbClr val="FFFFFF"/>
                          </a:solidFill>
                        </a:rPr>
                        <a:t>​</a:t>
                      </a:r>
                      <a:endParaRPr b="1" sz="12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88900" marR="8890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>
                          <a:solidFill>
                            <a:srgbClr val="FFFFFF"/>
                          </a:solidFill>
                        </a:rPr>
                        <a:t>Mitigation Strategies</a:t>
                      </a:r>
                      <a:r>
                        <a:rPr b="1" lang="en-US" sz="1200">
                          <a:solidFill>
                            <a:srgbClr val="FFFFFF"/>
                          </a:solidFill>
                        </a:rPr>
                        <a:t>​</a:t>
                      </a:r>
                      <a:endParaRPr b="1" sz="12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6082"/>
                    </a:solidFill>
                  </a:tcPr>
                </a:tc>
              </a:tr>
              <a:tr h="908025">
                <a:tc>
                  <a:txBody>
                    <a:bodyPr/>
                    <a:lstStyle/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  <a:p>
                      <a:pPr indent="0" lvl="0" marL="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Low Compute &amp; Memory</a:t>
                      </a:r>
                      <a:r>
                        <a:rPr lang="en-US" sz="1200"/>
                        <a:t> ​</a:t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/>
                        <a:t>Compact model suitable for low-power edge platforms.​</a:t>
                      </a:r>
                      <a:endParaRPr sz="1200"/>
                    </a:p>
                  </a:txBody>
                  <a:tcPr marT="91425" marB="91425" marR="91425" marL="91425">
                    <a:lnL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  <a:p>
                      <a:pPr indent="0" lvl="0" marL="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  <a:p>
                      <a:pPr indent="0" lvl="0" marL="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  <a:p>
                      <a:pPr indent="0" lvl="0" marL="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  <a:p>
                      <a:pPr indent="0" lvl="0" marL="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  <a:p>
                      <a:pPr indent="0" lvl="0" marL="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  <a:p>
                      <a:pPr indent="0" lvl="0" marL="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  <a:p>
                      <a:pPr indent="0" lvl="0" marL="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  <a:p>
                      <a:pPr indent="0" lvl="0" marL="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  <a:p>
                      <a:pPr indent="0" lvl="0" marL="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  <a:p>
                      <a:pPr indent="0" lvl="0" marL="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  <a:p>
                      <a:pPr indent="0" lvl="0" marL="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  <a:p>
                      <a:pPr indent="0" lvl="0" marL="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  <a:p>
                      <a:pPr indent="0" lvl="0" marL="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  <a:p>
                      <a:pPr indent="0" lvl="0" marL="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Adversarial Non-Stationarity</a:t>
                      </a:r>
                      <a:r>
                        <a:rPr lang="en-US" sz="1200"/>
                        <a:t> ​</a:t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Changing environments can reduce the performance </a:t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of fixed policies.​</a:t>
                      </a:r>
                      <a:endParaRPr sz="1200"/>
                    </a:p>
                  </a:txBody>
                  <a:tcPr marT="91425" marB="91425" marR="91425" marL="91425">
                    <a:lnL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  <a:p>
                      <a:pPr indent="0" lvl="0" marL="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Dual-Engine EXP3 Fallback</a:t>
                      </a:r>
                      <a:r>
                        <a:rPr lang="en-US" sz="1200"/>
                        <a:t> ​</a:t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Uses an adaptive fallback strategy under </a:t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changing conditions.​</a:t>
                      </a:r>
                      <a:endParaRPr sz="1200"/>
                    </a:p>
                  </a:txBody>
                  <a:tcPr marT="91425" marB="91425" marR="91425" marL="91425">
                    <a:lnL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D2D8"/>
                    </a:solidFill>
                  </a:tcPr>
                </a:tc>
              </a:tr>
              <a:tr h="911075">
                <a:tc>
                  <a:txBody>
                    <a:bodyPr/>
                    <a:lstStyle/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Real-Time Decision Making</a:t>
                      </a:r>
                      <a:r>
                        <a:rPr lang="en-US" sz="1200"/>
                        <a:t> ​</a:t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Low inference latency enables rapid</a:t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processing of incoming signals.​</a:t>
                      </a:r>
                      <a:endParaRPr sz="1200"/>
                    </a:p>
                  </a:txBody>
                  <a:tcPr marT="91425" marB="91425" marR="91425" marL="91425">
                    <a:lnL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Reward Imbalance</a:t>
                      </a:r>
                      <a:r>
                        <a:rPr lang="en-US" sz="1200"/>
                        <a:t> ​</a:t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/>
                        <a:t>Frequent signals may dominate the learning process.​</a:t>
                      </a:r>
                      <a:endParaRPr sz="1200"/>
                    </a:p>
                  </a:txBody>
                  <a:tcPr marT="91425" marB="91425" marR="91425" marL="91425">
                    <a:lnL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Priority-Aware Reward</a:t>
                      </a:r>
                      <a:r>
                        <a:rPr lang="en-US" sz="1200"/>
                        <a:t> ​</a:t>
                      </a:r>
                      <a:endParaRPr sz="1200"/>
                    </a:p>
                    <a:p>
                      <a:pPr indent="0" lvl="0" marL="0" marR="88900" rtl="0" algn="l">
                        <a:lnSpc>
                          <a:spcPct val="6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88900" rtl="0" algn="l">
                        <a:lnSpc>
                          <a:spcPct val="6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Weights </a:t>
                      </a:r>
                      <a:r>
                        <a:rPr lang="en-US" sz="1200"/>
                        <a:t>observations based on mission-defined </a:t>
                      </a:r>
                      <a:endParaRPr sz="1200"/>
                    </a:p>
                    <a:p>
                      <a:pPr indent="0" lvl="0" marL="0" marR="88900" rtl="0" algn="l">
                        <a:lnSpc>
                          <a:spcPct val="6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/>
                        <a:t>priority rather than pulse count alone.​</a:t>
                      </a:r>
                      <a:endParaRPr sz="1200"/>
                    </a:p>
                  </a:txBody>
                  <a:tcPr marT="91425" marB="91425" marR="91425" marL="91425">
                    <a:lnL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AED"/>
                    </a:solidFill>
                  </a:tcPr>
                </a:tc>
              </a:tr>
              <a:tr h="1106250">
                <a:tc>
                  <a:txBody>
                    <a:bodyPr/>
                    <a:lstStyle/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Realistic Signal Synthesis</a:t>
                      </a:r>
                      <a:r>
                        <a:rPr lang="en-US" sz="1200"/>
                        <a:t> ​</a:t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Signal parameters are derived from</a:t>
                      </a:r>
                      <a:endParaRPr sz="1200"/>
                    </a:p>
                    <a:p>
                      <a:pPr indent="0" lvl="0" marL="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  </a:t>
                      </a:r>
                      <a:endParaRPr sz="1200"/>
                    </a:p>
                    <a:p>
                      <a:pPr indent="0" lvl="0" marL="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  ADF4371 and LMX2594 datasheet </a:t>
                      </a:r>
                      <a:endParaRPr sz="1200"/>
                    </a:p>
                    <a:p>
                      <a:pPr indent="0" lvl="0" marL="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  </a:t>
                      </a:r>
                      <a:endParaRPr sz="1200"/>
                    </a:p>
                    <a:p>
                      <a:pPr indent="0" lvl="0" marL="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  </a:t>
                      </a:r>
                      <a:endParaRPr sz="1200"/>
                    </a:p>
                    <a:p>
                      <a:pPr indent="0" lvl="0" marL="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  specifications.​</a:t>
                      </a:r>
                      <a:endParaRPr sz="1200"/>
                    </a:p>
                  </a:txBody>
                  <a:tcPr marT="91425" marB="91425" marR="91425" marL="91425">
                    <a:lnL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Incomplete Ground Truth</a:t>
                      </a:r>
                      <a:r>
                        <a:rPr lang="en-US" sz="1200"/>
                        <a:t> ​</a:t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Operational data may be noisy, incomplete, or </a:t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unlabeled.​</a:t>
                      </a:r>
                      <a:endParaRPr sz="1200"/>
                    </a:p>
                  </a:txBody>
                  <a:tcPr marT="91425" marB="91425" marR="91425" marL="91425">
                    <a:lnL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Streaming SDIF De-Interleaving</a:t>
                      </a:r>
                      <a:r>
                        <a:rPr lang="en-US" sz="1200"/>
                        <a:t> ​</a:t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Separates overlapping signal streams through </a:t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online sequential processing.​</a:t>
                      </a:r>
                      <a:endParaRPr sz="1200"/>
                    </a:p>
                  </a:txBody>
                  <a:tcPr marT="91425" marB="91425" marR="91425" marL="91425">
                    <a:lnL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D2D8"/>
                    </a:solidFill>
                  </a:tcPr>
                </a:tc>
              </a:tr>
              <a:tr h="998525">
                <a:tc>
                  <a:txBody>
                    <a:bodyPr/>
                    <a:lstStyle/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Native Edge Execution</a:t>
                      </a:r>
                      <a:r>
                        <a:rPr lang="en-US" sz="1200"/>
                        <a:t> ​</a:t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Designed for deployment without </a:t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dependence on external cloud services.​</a:t>
                      </a:r>
                      <a:endParaRPr sz="1200"/>
                    </a:p>
                  </a:txBody>
                  <a:tcPr marT="91425" marB="91425" marR="91425" marL="91425">
                    <a:lnL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Engine Mode Switching</a:t>
                      </a:r>
                      <a:r>
                        <a:rPr lang="en-US" sz="1200"/>
                        <a:t> ​</a:t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Frequent switching between algorithms can introduce </a:t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processing overhead.​</a:t>
                      </a:r>
                      <a:endParaRPr sz="1200"/>
                    </a:p>
                  </a:txBody>
                  <a:tcPr marT="91425" marB="91425" marR="91425" marL="91425">
                    <a:lnL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Hysteresis Confidence Filter</a:t>
                      </a:r>
                      <a:r>
                        <a:rPr lang="en-US" sz="1200"/>
                        <a:t> ​</a:t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Uses dual confidence thresholds to prevent rapid </a:t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88900" marR="88900" rtl="0" algn="l">
                        <a:lnSpc>
                          <a:spcPct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mode switching.​</a:t>
                      </a:r>
                      <a:endParaRPr sz="1200"/>
                    </a:p>
                  </a:txBody>
                  <a:tcPr marT="91425" marB="91425" marR="91425" marL="91425">
                    <a:lnL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AED"/>
                    </a:solidFill>
                  </a:tcPr>
                </a:tc>
              </a:tr>
            </a:tbl>
          </a:graphicData>
        </a:graphic>
      </p:graphicFrame>
      <p:sp>
        <p:nvSpPr>
          <p:cNvPr id="160" name="Google Shape;160;p4"/>
          <p:cNvSpPr txBox="1"/>
          <p:nvPr/>
        </p:nvSpPr>
        <p:spPr>
          <a:xfrm>
            <a:off x="304800" y="3048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5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IMPACT AND BENEFITS</a:t>
            </a:r>
            <a:endParaRPr/>
          </a:p>
        </p:txBody>
      </p:sp>
      <p:sp>
        <p:nvSpPr>
          <p:cNvPr id="168" name="Google Shape;168;p5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69" name="Google Shape;169;p5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/>
          </a:p>
        </p:txBody>
      </p:sp>
      <p:pic>
        <p:nvPicPr>
          <p:cNvPr id="170" name="Google Shape;17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1" name="Google Shape;171;p5"/>
          <p:cNvGrpSpPr/>
          <p:nvPr/>
        </p:nvGrpSpPr>
        <p:grpSpPr>
          <a:xfrm>
            <a:off x="2489767" y="2747572"/>
            <a:ext cx="7945709" cy="3275045"/>
            <a:chOff x="2484" y="54692"/>
            <a:chExt cx="7945709" cy="3275045"/>
          </a:xfrm>
        </p:grpSpPr>
        <p:sp>
          <p:nvSpPr>
            <p:cNvPr id="172" name="Google Shape;172;p5"/>
            <p:cNvSpPr/>
            <p:nvPr/>
          </p:nvSpPr>
          <p:spPr>
            <a:xfrm>
              <a:off x="2484" y="54692"/>
              <a:ext cx="2422472" cy="509285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5"/>
            <p:cNvSpPr txBox="1"/>
            <p:nvPr/>
          </p:nvSpPr>
          <p:spPr>
            <a:xfrm>
              <a:off x="2484" y="54692"/>
              <a:ext cx="2422472" cy="5092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6875" lIns="99550" spcFirstLastPara="1" rIns="99550" wrap="square" tIns="568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alibri"/>
                <a:buNone/>
              </a:pPr>
              <a:r>
                <a:rPr i="1" lang="en-US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Social</a:t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" name="Google Shape;174;p5"/>
            <p:cNvSpPr/>
            <p:nvPr/>
          </p:nvSpPr>
          <p:spPr>
            <a:xfrm>
              <a:off x="2484" y="563978"/>
              <a:ext cx="2422472" cy="2765759"/>
            </a:xfrm>
            <a:prstGeom prst="rect">
              <a:avLst/>
            </a:prstGeom>
            <a:solidFill>
              <a:srgbClr val="E7CFCF">
                <a:alpha val="90196"/>
              </a:srgbClr>
            </a:solidFill>
            <a:ln cap="flat" cmpd="sng" w="25400">
              <a:solidFill>
                <a:srgbClr val="E7CFCF">
                  <a:alpha val="90196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5"/>
            <p:cNvSpPr txBox="1"/>
            <p:nvPr/>
          </p:nvSpPr>
          <p:spPr>
            <a:xfrm>
              <a:off x="2484" y="563978"/>
              <a:ext cx="2422472" cy="276575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12000" lIns="74675" spcFirstLastPara="1" rIns="99550" wrap="square" tIns="74675">
              <a:noAutofit/>
            </a:bodyPr>
            <a:lstStyle/>
            <a:p>
              <a:pPr indent="-114300" lvl="1" marL="1143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Char char="•"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Builds domestic expertise in cognitive EW systems, contributing to India's defense R&amp;D talent base</a:t>
              </a:r>
              <a:endParaRPr/>
            </a:p>
            <a:p>
              <a:pPr indent="-114300" lvl="1" marL="114300" marR="0" rtl="0" algn="l">
                <a:lnSpc>
                  <a:spcPct val="90000"/>
                </a:lnSpc>
                <a:spcBef>
                  <a:spcPts val="21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Char char="•"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Protects military personnel by closing the detection gap against modern agile-hopping threat radars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" name="Google Shape;176;p5"/>
            <p:cNvSpPr/>
            <p:nvPr/>
          </p:nvSpPr>
          <p:spPr>
            <a:xfrm>
              <a:off x="2764103" y="54692"/>
              <a:ext cx="2422472" cy="509285"/>
            </a:xfrm>
            <a:prstGeom prst="rect">
              <a:avLst/>
            </a:prstGeom>
            <a:solidFill>
              <a:schemeClr val="accent3"/>
            </a:solidFill>
            <a:ln cap="flat" cmpd="sng" w="254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5"/>
            <p:cNvSpPr txBox="1"/>
            <p:nvPr/>
          </p:nvSpPr>
          <p:spPr>
            <a:xfrm>
              <a:off x="2764103" y="54692"/>
              <a:ext cx="2422472" cy="5092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6875" lIns="99550" spcFirstLastPara="1" rIns="99550" wrap="square" tIns="568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alibri"/>
                <a:buNone/>
              </a:pPr>
              <a:r>
                <a:rPr lang="en-US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Economic</a:t>
              </a:r>
              <a:endParaRPr/>
            </a:p>
          </p:txBody>
        </p:sp>
        <p:sp>
          <p:nvSpPr>
            <p:cNvPr id="178" name="Google Shape;178;p5"/>
            <p:cNvSpPr/>
            <p:nvPr/>
          </p:nvSpPr>
          <p:spPr>
            <a:xfrm>
              <a:off x="2764103" y="563978"/>
              <a:ext cx="2422472" cy="2765759"/>
            </a:xfrm>
            <a:prstGeom prst="rect">
              <a:avLst/>
            </a:prstGeom>
            <a:solidFill>
              <a:srgbClr val="DEE7D0">
                <a:alpha val="90196"/>
              </a:srgbClr>
            </a:solidFill>
            <a:ln cap="flat" cmpd="sng" w="25400">
              <a:solidFill>
                <a:srgbClr val="DEE7D0">
                  <a:alpha val="90196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5"/>
            <p:cNvSpPr txBox="1"/>
            <p:nvPr/>
          </p:nvSpPr>
          <p:spPr>
            <a:xfrm>
              <a:off x="2764103" y="563978"/>
              <a:ext cx="2422472" cy="276575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12000" lIns="74675" spcFirstLastPara="1" rIns="99550" wrap="square" tIns="74675">
              <a:noAutofit/>
            </a:bodyPr>
            <a:lstStyle/>
            <a:p>
              <a:pPr indent="-114300" lvl="1" marL="1143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Char char="•"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Lowers dependency on costly foreign-sourced ESM technology, supporting indigenous defense manufacturing (Atmanirbhar Bharat in defense electronics)</a:t>
              </a:r>
              <a:endParaRPr/>
            </a:p>
            <a:p>
              <a:pPr indent="-114300" lvl="1" marL="114300" marR="0" rtl="0" algn="l">
                <a:lnSpc>
                  <a:spcPct val="90000"/>
                </a:lnSpc>
                <a:spcBef>
                  <a:spcPts val="21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Char char="•"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Software-defined intelligence layered on existing hardware reduces the need for expensive receiver redesigns or additional RF front-end hardware</a:t>
              </a:r>
              <a:endParaRPr/>
            </a:p>
          </p:txBody>
        </p:sp>
        <p:sp>
          <p:nvSpPr>
            <p:cNvPr id="180" name="Google Shape;180;p5"/>
            <p:cNvSpPr/>
            <p:nvPr/>
          </p:nvSpPr>
          <p:spPr>
            <a:xfrm>
              <a:off x="5525721" y="54692"/>
              <a:ext cx="2422472" cy="509285"/>
            </a:xfrm>
            <a:prstGeom prst="rect">
              <a:avLst/>
            </a:prstGeom>
            <a:solidFill>
              <a:srgbClr val="7E61A2"/>
            </a:solidFill>
            <a:ln cap="flat" cmpd="sng" w="25400">
              <a:solidFill>
                <a:srgbClr val="7E61A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5"/>
            <p:cNvSpPr txBox="1"/>
            <p:nvPr/>
          </p:nvSpPr>
          <p:spPr>
            <a:xfrm>
              <a:off x="5525721" y="54692"/>
              <a:ext cx="2422472" cy="5092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6875" lIns="99550" spcFirstLastPara="1" rIns="99550" wrap="square" tIns="568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alibri"/>
                <a:buNone/>
              </a:pPr>
              <a:r>
                <a:rPr lang="en-US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Environmental / Operational Efficiency</a:t>
              </a:r>
              <a:endParaRPr/>
            </a:p>
          </p:txBody>
        </p:sp>
        <p:sp>
          <p:nvSpPr>
            <p:cNvPr id="182" name="Google Shape;182;p5"/>
            <p:cNvSpPr/>
            <p:nvPr/>
          </p:nvSpPr>
          <p:spPr>
            <a:xfrm>
              <a:off x="5525721" y="563978"/>
              <a:ext cx="2422472" cy="2765759"/>
            </a:xfrm>
            <a:prstGeom prst="rect">
              <a:avLst/>
            </a:prstGeom>
            <a:solidFill>
              <a:srgbClr val="D7D2DF">
                <a:alpha val="90196"/>
              </a:srgbClr>
            </a:solidFill>
            <a:ln cap="flat" cmpd="sng" w="25400">
              <a:solidFill>
                <a:srgbClr val="D7D2DF">
                  <a:alpha val="90196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5"/>
            <p:cNvSpPr txBox="1"/>
            <p:nvPr/>
          </p:nvSpPr>
          <p:spPr>
            <a:xfrm>
              <a:off x="5525721" y="563978"/>
              <a:ext cx="2422472" cy="276575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12000" lIns="74675" spcFirstLastPara="1" rIns="99550" wrap="square" tIns="74675">
              <a:noAutofit/>
            </a:bodyPr>
            <a:lstStyle/>
            <a:p>
              <a:pPr indent="-114300" lvl="1" marL="1143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Char char="•"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SWaP-C-aware design (Size, Weight, Power, Cost) avoids the extra power draw and thermal load of full-spectrum simultaneous digitization</a:t>
              </a:r>
              <a:endParaRPr/>
            </a:p>
            <a:p>
              <a:pPr indent="-114300" lvl="1" marL="114300" marR="0" rtl="0" algn="l">
                <a:lnSpc>
                  <a:spcPct val="90000"/>
                </a:lnSpc>
                <a:spcBef>
                  <a:spcPts val="21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Char char="•"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Efficient sub-band scanning reduces unnecessary continuous wideband processing, lowering onboard power consumption during extended patrol/mission durations</a:t>
              </a:r>
              <a:endParaRPr/>
            </a:p>
          </p:txBody>
        </p:sp>
      </p:grpSp>
      <p:sp>
        <p:nvSpPr>
          <p:cNvPr id="184" name="Google Shape;184;p5"/>
          <p:cNvSpPr txBox="1"/>
          <p:nvPr/>
        </p:nvSpPr>
        <p:spPr>
          <a:xfrm>
            <a:off x="2310472" y="906385"/>
            <a:ext cx="7589103" cy="21236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Potential Impact on the Target Audience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Directly improves survivability for aircrew and ship crews operating under RWR/ESM cover — faster, more reliable threat detection in the critical seconds before missile lock</a:t>
            </a:r>
            <a:endParaRPr/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Reduces cognitive load on human operators by automating scan prioritization, letting crews focus on tactical response rather than manual threat triage</a:t>
            </a:r>
            <a:endParaRPr/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Strengthens India's indigenous EW capability, reducing reliance on imported ESM receiver systems for frontline defense platforms</a:t>
            </a:r>
            <a:endParaRPr/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Applicable across multiple platform classes (airborne, naval) without redesign, since the controller is software-defined on top of standard receiver hardware</a:t>
            </a:r>
            <a:endParaRPr/>
          </a:p>
          <a:p>
            <a:pPr indent="-2095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Your startup LOGO" id="185" name="Google Shape;185;p5"/>
          <p:cNvSpPr/>
          <p:nvPr/>
        </p:nvSpPr>
        <p:spPr>
          <a:xfrm>
            <a:off x="329773" y="252246"/>
            <a:ext cx="1627777" cy="817494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Half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Squadron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6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6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RESEARCH  AND REFERENCES</a:t>
            </a:r>
            <a:endParaRPr/>
          </a:p>
        </p:txBody>
      </p:sp>
      <p:sp>
        <p:nvSpPr>
          <p:cNvPr id="193" name="Google Shape;193;p6"/>
          <p:cNvSpPr txBox="1"/>
          <p:nvPr/>
        </p:nvSpPr>
        <p:spPr>
          <a:xfrm>
            <a:off x="393940" y="1386280"/>
            <a:ext cx="11700054" cy="56323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Radar Dataset Turing Synthetic Radar Dataset (TSRD)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— </a:t>
            </a:r>
            <a:r>
              <a:rPr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https://arxiv.org/abs/2602.03856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Dataset repository — </a:t>
            </a:r>
            <a:r>
              <a:rPr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https://huggingface.co/datasets/alan-turing-institute/turing-synthetic-radar-dataset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De-Interleaving Foundations 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Davies &amp; Hollands (1982), "Automatic processing for ESM" — </a:t>
            </a:r>
            <a:r>
              <a:rPr b="0" i="0" lang="en-US" sz="1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https://doi.org/10.1049/ip-f-1.1982.0025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Mardia (1989), "New techniques for the deinterleaving of repetitive sequences"  </a:t>
            </a:r>
            <a:r>
              <a:rPr b="0" i="0" lang="en-US" sz="1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https://doi.org/10.1049/ip-f-2.1989.0025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Milojević &amp; Popović (1992), "Improved algorithm for the deinterleaving of radar pulses"  </a:t>
            </a:r>
            <a:r>
              <a:rPr b="0" i="0" lang="en-US" sz="1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https://doi.org/10.1049/ip-f-2.1992.0012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Cognitive Algorithms  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Mnih et al. (2015), "Human-level control through deep reinforcement learning"  </a:t>
            </a:r>
            <a:r>
              <a:rPr b="0" i="0" lang="en-US" sz="1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https://doi.org/10.1038/nature14236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Schaul et al. (2016), "Prioritized Experience Replay" — </a:t>
            </a:r>
            <a:r>
              <a:rPr b="0" i="0" lang="en-US" sz="1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https://arxiv.org/abs/1511.05952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Auer et al. (2002), "The Nonstochastic Multiarmed Bandit Problem"  </a:t>
            </a:r>
            <a:r>
              <a:rPr b="0" i="0" lang="en-US" sz="1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https://doi.org/10.1137/S0097539701398375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Synthesizer Hardware Baselines 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Analog Devices, ADF4371 Datasheet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https://www.analog.com/media/en/technical-documentation/data-sheets/adf4371.pdf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Texas Instruments, LMX2594 Datasheet — </a:t>
            </a:r>
            <a:r>
              <a:rPr b="0" i="0" lang="en-US" sz="1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1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https://www.ti.com/lit/ds/symlink/lmx2594.pdf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6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95" name="Google Shape;195;p6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/>
          </a:p>
        </p:txBody>
      </p:sp>
      <p:pic>
        <p:nvPicPr>
          <p:cNvPr id="196" name="Google Shape;196;p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sp>
        <p:nvSpPr>
          <p:cNvPr descr="Your startup LOGO" id="197" name="Google Shape;197;p6"/>
          <p:cNvSpPr/>
          <p:nvPr/>
        </p:nvSpPr>
        <p:spPr>
          <a:xfrm>
            <a:off x="329773" y="252246"/>
            <a:ext cx="1627777" cy="817494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Half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Squadron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2013-12-12T18:46:50Z</dcterms:created>
  <dc:creator>Crowdfunder</dc:creator>
</cp:coreProperties>
</file>