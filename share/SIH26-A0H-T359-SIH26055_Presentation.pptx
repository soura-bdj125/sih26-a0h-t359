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98" r:id="rId3"/>
    <p:sldId id="290" r:id="rId4"/>
    <p:sldId id="293" r:id="rId5"/>
    <p:sldId id="294" r:id="rId6"/>
    <p:sldId id="299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83" dt="2026-08-30T13:05:14.325"/>
    <p1510:client id="{0DC1596B-CBE5-495D-B0B0-0FF997157F14}" v="53" dt="2026-08-28T20:09:04.057"/>
    <p1510:client id="{AC36A532-5A37-4A74-9C8B-0ED98E4B03D5}" v="422" dt="2026-08-28T19:58:02.376"/>
    <p1510:client id="{C34D6B51-C2F4-F3C9-0FF5-2BF98199B2E4}" v="61" dt="2026-08-30T13:06:22.8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#1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#1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162AB0-0B97-4DCA-89B2-60FFF21FFA6A}" type="doc">
      <dgm:prSet loTypeId="urn:microsoft.com/office/officeart/2005/8/layout/hList1" loCatId="list" qsTypeId="urn:microsoft.com/office/officeart/2005/8/quickstyle/simple1#1" qsCatId="simple" csTypeId="urn:microsoft.com/office/officeart/2005/8/colors/colorful5#1" csCatId="colorful" phldr="1"/>
      <dgm:spPr/>
      <dgm:t>
        <a:bodyPr/>
        <a:lstStyle/>
        <a:p>
          <a:endParaRPr lang="en-US"/>
        </a:p>
      </dgm:t>
    </dgm:pt>
    <dgm:pt modelId="{E79B8187-167A-4972-B8A8-303F274EA540}">
      <dgm:prSet phldrT="[Text]" phldr="0"/>
      <dgm:spPr/>
      <dgm:t>
        <a:bodyPr/>
        <a:lstStyle/>
        <a:p>
          <a:pPr rtl="0"/>
          <a:r>
            <a:rPr lang="en-US" sz="1100">
              <a:latin typeface="Calibri"/>
            </a:rPr>
            <a:t>The Problem</a:t>
          </a:r>
        </a:p>
      </dgm:t>
    </dgm:pt>
    <dgm:pt modelId="{94A1F669-26E7-4D89-BE63-2BED5B9D2CA5}" type="parTrans" cxnId="{9D8D1D7C-A2A7-493D-A9EC-E25738BB3265}">
      <dgm:prSet/>
      <dgm:spPr/>
    </dgm:pt>
    <dgm:pt modelId="{1E39315A-598D-4595-9BB5-5CA2B902A6A1}" type="sibTrans" cxnId="{9D8D1D7C-A2A7-493D-A9EC-E25738BB3265}">
      <dgm:prSet/>
      <dgm:spPr/>
    </dgm:pt>
    <dgm:pt modelId="{A82974BB-D8ED-48BF-A132-905A6EAD1D50}">
      <dgm:prSet phldrT="[Text]" phldr="0"/>
      <dgm:spPr/>
      <dgm:t>
        <a:bodyPr/>
        <a:lstStyle/>
        <a:p>
          <a:r>
            <a:rPr lang="en-US" sz="1100">
              <a:latin typeface="Calibri"/>
            </a:rPr>
            <a:t>Monitoring 0.5-18.0 GHz spectrum via 500 MHz IBW across 35 discrete channels against agile radars</a:t>
          </a:r>
        </a:p>
      </dgm:t>
    </dgm:pt>
    <dgm:pt modelId="{4BF51720-05A5-4773-B48E-DD8D4C3A7B18}" type="parTrans" cxnId="{8E9C0E7A-D0CC-42D1-9429-A97B561604A4}">
      <dgm:prSet/>
      <dgm:spPr/>
    </dgm:pt>
    <dgm:pt modelId="{D45D8756-46F1-4F94-9306-3132F65E936B}" type="sibTrans" cxnId="{8E9C0E7A-D0CC-42D1-9429-A97B561604A4}">
      <dgm:prSet/>
      <dgm:spPr/>
    </dgm:pt>
    <dgm:pt modelId="{2DC83413-7B6A-40E3-A756-8B3438CCD575}">
      <dgm:prSet phldrT="[Text]" phldr="0"/>
      <dgm:spPr/>
      <dgm:t>
        <a:bodyPr/>
        <a:lstStyle/>
        <a:p>
          <a:r>
            <a:rPr lang="en-US" sz="1100">
              <a:latin typeface="Calibri"/>
            </a:rPr>
            <a:t>Literature ignores LO settling blind time (15-50 us), dropping pulses during hops</a:t>
          </a:r>
        </a:p>
      </dgm:t>
    </dgm:pt>
    <dgm:pt modelId="{BFFC65F9-B8E5-422D-972B-34904A8492DF}" type="parTrans" cxnId="{E966AC45-5045-4F67-9AB2-465C57E8BF37}">
      <dgm:prSet/>
      <dgm:spPr/>
    </dgm:pt>
    <dgm:pt modelId="{77DFFF05-2AC5-4388-BA56-52F976760DBF}" type="sibTrans" cxnId="{E966AC45-5045-4F67-9AB2-465C57E8BF37}">
      <dgm:prSet/>
      <dgm:spPr/>
    </dgm:pt>
    <dgm:pt modelId="{54F5C54A-1243-42C4-8BC9-AB3A8AD733DE}">
      <dgm:prSet phldrT="[Text]" phldr="0"/>
      <dgm:spPr/>
      <dgm:t>
        <a:bodyPr/>
        <a:lstStyle/>
        <a:p>
          <a:r>
            <a:rPr lang="en-US" sz="1100">
              <a:latin typeface="Calibri"/>
            </a:rPr>
            <a:t>Standard AI models suffer catastrophic forgetting under chaotic adversarial agility</a:t>
          </a:r>
        </a:p>
      </dgm:t>
    </dgm:pt>
    <dgm:pt modelId="{8095D0B8-A7B9-4BD7-8FB2-3B5039EF8825}" type="parTrans" cxnId="{AC8173B2-3EF8-4B34-97D0-2365755161F4}">
      <dgm:prSet/>
      <dgm:spPr/>
    </dgm:pt>
    <dgm:pt modelId="{B963610F-4F4D-4BBB-8307-178EDE4FFD03}" type="sibTrans" cxnId="{AC8173B2-3EF8-4B34-97D0-2365755161F4}">
      <dgm:prSet/>
      <dgm:spPr/>
    </dgm:pt>
    <dgm:pt modelId="{F67BC946-5F65-4015-A576-17C606EF870C}">
      <dgm:prSet phldrT="[Text]" phldr="0"/>
      <dgm:spPr/>
      <dgm:t>
        <a:bodyPr/>
        <a:lstStyle/>
        <a:p>
          <a:r>
            <a:rPr lang="en-US" sz="1100">
              <a:latin typeface="Calibri"/>
            </a:rPr>
            <a:t>Our Solution</a:t>
          </a:r>
        </a:p>
      </dgm:t>
    </dgm:pt>
    <dgm:pt modelId="{1DEEF854-9532-4AB2-8470-79631D51863B}" type="parTrans" cxnId="{08090A81-3DF7-485A-A700-50DE099F647B}">
      <dgm:prSet/>
      <dgm:spPr/>
    </dgm:pt>
    <dgm:pt modelId="{D848D265-04CE-40A9-A12D-00618DC495C7}" type="sibTrans" cxnId="{08090A81-3DF7-485A-A700-50DE099F647B}">
      <dgm:prSet/>
      <dgm:spPr/>
    </dgm:pt>
    <dgm:pt modelId="{9C3ABF8A-5A58-4495-9F18-9F6AA6FD9813}">
      <dgm:prSet phldrT="[Text]" phldr="0"/>
      <dgm:spPr/>
      <dgm:t>
        <a:bodyPr/>
        <a:lstStyle/>
        <a:p>
          <a:r>
            <a:rPr lang="en-US" sz="1100">
              <a:latin typeface="Calibri"/>
            </a:rPr>
            <a:t>Dual-engine scan strategy dynamically allocates 500 MHz receiver dwells across 35 sub-bands</a:t>
          </a:r>
        </a:p>
      </dgm:t>
    </dgm:pt>
    <dgm:pt modelId="{25E9364B-940C-4CE8-A0CF-02264F60A555}" type="parTrans" cxnId="{410AA94F-9F48-4616-BD8C-DFF96C55B996}">
      <dgm:prSet/>
      <dgm:spPr/>
    </dgm:pt>
    <dgm:pt modelId="{63156A98-0841-4479-B208-43C88EA29E0B}" type="sibTrans" cxnId="{410AA94F-9F48-4616-BD8C-DFF96C55B996}">
      <dgm:prSet/>
      <dgm:spPr/>
    </dgm:pt>
    <dgm:pt modelId="{3DC4DF34-B33E-49C8-BCC5-8CC8BFD34FDE}">
      <dgm:prSet phldrT="[Text]" phldr="0"/>
      <dgm:spPr/>
      <dgm:t>
        <a:bodyPr/>
        <a:lstStyle/>
        <a:p>
          <a:r>
            <a:rPr lang="en-US" sz="1100">
              <a:latin typeface="Calibri"/>
            </a:rPr>
            <a:t>Engine A (DQN with PER) predicts structured radar patterns to maximize intercept in 2-10 </a:t>
          </a:r>
          <a:r>
            <a:rPr lang="en-US" sz="1100" err="1">
              <a:latin typeface="Calibri"/>
            </a:rPr>
            <a:t>ms</a:t>
          </a:r>
          <a:r>
            <a:rPr lang="en-US" sz="1100">
              <a:latin typeface="Calibri"/>
            </a:rPr>
            <a:t> dwells</a:t>
          </a:r>
        </a:p>
      </dgm:t>
    </dgm:pt>
    <dgm:pt modelId="{758CCE5C-7BA1-4C5F-8127-7A647A26B9ED}" type="parTrans" cxnId="{E03D2123-6AFB-4F1A-9D56-5C37B6E7FBFB}">
      <dgm:prSet/>
      <dgm:spPr/>
    </dgm:pt>
    <dgm:pt modelId="{F42DB8B6-7ED2-431F-9338-2D1A0327C2D0}" type="sibTrans" cxnId="{E03D2123-6AFB-4F1A-9D56-5C37B6E7FBFB}">
      <dgm:prSet/>
      <dgm:spPr/>
    </dgm:pt>
    <dgm:pt modelId="{041E393C-A09E-4848-8A4E-4F41553E03BD}">
      <dgm:prSet phldrT="[Text]" phldr="0"/>
      <dgm:spPr/>
      <dgm:t>
        <a:bodyPr/>
        <a:lstStyle/>
        <a:p>
          <a:r>
            <a:rPr lang="en-US" sz="1100">
              <a:latin typeface="Calibri"/>
            </a:rPr>
            <a:t>Engine B (Exp3 Bandit) bounds worst-case regret to catch chaotic pseudo-random frequency hops</a:t>
          </a:r>
        </a:p>
      </dgm:t>
    </dgm:pt>
    <dgm:pt modelId="{32139948-14BD-43A2-B74A-423DB5A6C3E3}" type="parTrans" cxnId="{7258CFCE-CC42-4A6A-909C-058CFDF92461}">
      <dgm:prSet/>
      <dgm:spPr/>
    </dgm:pt>
    <dgm:pt modelId="{5D08E8CF-B926-42D2-B50C-5CC9B0F9DA36}" type="sibTrans" cxnId="{7258CFCE-CC42-4A6A-909C-058CFDF92461}">
      <dgm:prSet/>
      <dgm:spPr/>
    </dgm:pt>
    <dgm:pt modelId="{4B4599F4-CB6F-4152-BC25-0E2339E998F3}">
      <dgm:prSet phldrT="[Text]" phldr="0"/>
      <dgm:spPr/>
      <dgm:t>
        <a:bodyPr/>
        <a:lstStyle/>
        <a:p>
          <a:r>
            <a:rPr lang="en-US" sz="1100">
              <a:latin typeface="Calibri"/>
            </a:rPr>
            <a:t>Hysteresis dispatcher transitions between DQN and Exp3 without decision thrashing</a:t>
          </a:r>
        </a:p>
      </dgm:t>
    </dgm:pt>
    <dgm:pt modelId="{5177B0B3-B7A0-4A37-B998-7825ACC61C21}" type="parTrans" cxnId="{6105F8A8-15BB-48F1-B2B6-417ACD747BD6}">
      <dgm:prSet/>
      <dgm:spPr/>
    </dgm:pt>
    <dgm:pt modelId="{4AB5DEEE-5BDD-4CD1-9E8A-1B811740D1BE}" type="sibTrans" cxnId="{6105F8A8-15BB-48F1-B2B6-417ACD747BD6}">
      <dgm:prSet/>
      <dgm:spPr/>
    </dgm:pt>
    <dgm:pt modelId="{38293AC7-950F-423A-9041-7F0822BADEDB}">
      <dgm:prSet phldrT="[Text]" phldr="0"/>
      <dgm:spPr/>
      <dgm:t>
        <a:bodyPr/>
        <a:lstStyle/>
        <a:p>
          <a:r>
            <a:rPr lang="en-US" sz="1100">
              <a:latin typeface="Calibri"/>
            </a:rPr>
            <a:t>Our Uniqueness</a:t>
          </a:r>
        </a:p>
      </dgm:t>
    </dgm:pt>
    <dgm:pt modelId="{F099E009-3306-479B-AA73-34C43E70FF34}" type="parTrans" cxnId="{751A057F-9371-4214-8DAE-166DD1314AA0}">
      <dgm:prSet/>
      <dgm:spPr/>
    </dgm:pt>
    <dgm:pt modelId="{2E15BFF5-74D8-451C-989E-514C120013F7}" type="sibTrans" cxnId="{751A057F-9371-4214-8DAE-166DD1314AA0}">
      <dgm:prSet/>
      <dgm:spPr/>
    </dgm:pt>
    <dgm:pt modelId="{BB5C2869-8625-4A91-BC9B-591E7D403BBC}">
      <dgm:prSet phldrT="[Text]" phldr="0"/>
      <dgm:spPr/>
      <dgm:t>
        <a:bodyPr/>
        <a:lstStyle/>
        <a:p>
          <a:r>
            <a:rPr lang="en-US" sz="1100">
              <a:latin typeface="Calibri"/>
            </a:rPr>
            <a:t>Hardware-aware loss directly penalizes LO slew latency (15 us + 2 us/GHz) in the control loop</a:t>
          </a:r>
        </a:p>
      </dgm:t>
    </dgm:pt>
    <dgm:pt modelId="{F51FE938-868A-4985-8ADF-8E12F204A1D5}" type="parTrans" cxnId="{AC08540B-0849-4357-8FE9-1F0082C4B195}">
      <dgm:prSet/>
      <dgm:spPr/>
    </dgm:pt>
    <dgm:pt modelId="{48F8550A-8DE1-4505-B57F-AB79309E8412}" type="sibTrans" cxnId="{AC08540B-0849-4357-8FE9-1F0082C4B195}">
      <dgm:prSet/>
      <dgm:spPr/>
    </dgm:pt>
    <dgm:pt modelId="{6113141E-6C67-4034-8EA5-F7C6CA9D34E8}">
      <dgm:prSet phldrT="[Text]" phldr="0"/>
      <dgm:spPr/>
      <dgm:t>
        <a:bodyPr/>
        <a:lstStyle/>
        <a:p>
          <a:r>
            <a:rPr lang="en-US" sz="1100">
              <a:latin typeface="Calibri"/>
            </a:rPr>
            <a:t>Threat-weighted utility prioritizes low-duty lethal missile locks over dense civil radar signals</a:t>
          </a:r>
        </a:p>
      </dgm:t>
    </dgm:pt>
    <dgm:pt modelId="{76684A5B-1FD6-4083-A48A-075A9523A2DD}" type="parTrans" cxnId="{6306117A-CCE0-4F32-8BC6-24F013A11E91}">
      <dgm:prSet/>
      <dgm:spPr/>
    </dgm:pt>
    <dgm:pt modelId="{866619BF-635D-410D-854D-A09E42C8F9F6}" type="sibTrans" cxnId="{6306117A-CCE0-4F32-8BC6-24F013A11E91}">
      <dgm:prSet/>
      <dgm:spPr/>
    </dgm:pt>
    <dgm:pt modelId="{416AD0C0-DEC3-4D72-A5B3-781604402C7E}">
      <dgm:prSet phldrT="[Text]" phldr="0"/>
      <dgm:spPr/>
      <dgm:t>
        <a:bodyPr/>
        <a:lstStyle/>
        <a:p>
          <a:r>
            <a:rPr lang="en-US" sz="1100">
              <a:latin typeface="Calibri"/>
            </a:rPr>
            <a:t>Edge-optimized design (&lt;15k params) projected for sub-10 us inference on embedded FPGA SoCs</a:t>
          </a:r>
        </a:p>
      </dgm:t>
    </dgm:pt>
    <dgm:pt modelId="{A2FFEBB1-5ED1-4FA3-8810-7ECAC65B26E1}" type="parTrans" cxnId="{2D16FC99-FA41-4526-85E2-26EA108CE35D}">
      <dgm:prSet/>
      <dgm:spPr/>
    </dgm:pt>
    <dgm:pt modelId="{655004B5-F25B-41AC-B65E-1155F7A0FDD8}" type="sibTrans" cxnId="{2D16FC99-FA41-4526-85E2-26EA108CE35D}">
      <dgm:prSet/>
      <dgm:spPr/>
    </dgm:pt>
    <dgm:pt modelId="{A4B7623C-E27A-448E-99E5-B1CD256BA24A}">
      <dgm:prSet phldrT="[Text]" phldr="0"/>
      <dgm:spPr/>
      <dgm:t>
        <a:bodyPr/>
        <a:lstStyle/>
        <a:p>
          <a:r>
            <a:rPr lang="en-US" sz="1100">
              <a:latin typeface="Calibri"/>
            </a:rPr>
            <a:t>Convex starvation barrier forces unvisited channel revisits before threat deadlines expire</a:t>
          </a:r>
        </a:p>
      </dgm:t>
    </dgm:pt>
    <dgm:pt modelId="{EC7428AB-424B-4421-A1C4-54031D5F76FC}" type="parTrans" cxnId="{A1B4A835-A541-4615-BBC9-7B6FE28CB339}">
      <dgm:prSet/>
      <dgm:spPr/>
    </dgm:pt>
    <dgm:pt modelId="{F978D8B6-B5A4-460D-9B03-63ED166D88B1}" type="sibTrans" cxnId="{A1B4A835-A541-4615-BBC9-7B6FE28CB339}">
      <dgm:prSet/>
      <dgm:spPr/>
    </dgm:pt>
    <dgm:pt modelId="{ED8EF22D-0D4F-400E-A19A-830E129C4CCC}" type="pres">
      <dgm:prSet presAssocID="{7F162AB0-0B97-4DCA-89B2-60FFF21FFA6A}" presName="Name0" presStyleCnt="0">
        <dgm:presLayoutVars>
          <dgm:dir/>
          <dgm:animLvl val="lvl"/>
          <dgm:resizeHandles val="exact"/>
        </dgm:presLayoutVars>
      </dgm:prSet>
      <dgm:spPr/>
    </dgm:pt>
    <dgm:pt modelId="{C7F13450-40A6-449F-96B0-F934E8290365}" type="pres">
      <dgm:prSet presAssocID="{E79B8187-167A-4972-B8A8-303F274EA540}" presName="composite" presStyleCnt="0"/>
      <dgm:spPr/>
    </dgm:pt>
    <dgm:pt modelId="{F46A4996-4764-40A8-8372-BB2E77647E1C}" type="pres">
      <dgm:prSet presAssocID="{E79B8187-167A-4972-B8A8-303F274EA540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6B27FA7F-6B65-4A8C-9882-9C1FBA8E0C7E}" type="pres">
      <dgm:prSet presAssocID="{E79B8187-167A-4972-B8A8-303F274EA540}" presName="desTx" presStyleLbl="alignAccFollowNode1" presStyleIdx="0" presStyleCnt="3">
        <dgm:presLayoutVars>
          <dgm:bulletEnabled val="1"/>
        </dgm:presLayoutVars>
      </dgm:prSet>
      <dgm:spPr/>
    </dgm:pt>
    <dgm:pt modelId="{79EFF586-2DB7-4968-BC8B-E8E93EB9F1D3}" type="pres">
      <dgm:prSet presAssocID="{1E39315A-598D-4595-9BB5-5CA2B902A6A1}" presName="space" presStyleCnt="0"/>
      <dgm:spPr/>
    </dgm:pt>
    <dgm:pt modelId="{7C78B1E9-D0AB-43A9-99E2-C4B80FA9D4A8}" type="pres">
      <dgm:prSet presAssocID="{F67BC946-5F65-4015-A576-17C606EF870C}" presName="composite" presStyleCnt="0"/>
      <dgm:spPr/>
    </dgm:pt>
    <dgm:pt modelId="{836E2460-6FE7-44D1-A0D0-F678F1B52DF3}" type="pres">
      <dgm:prSet presAssocID="{F67BC946-5F65-4015-A576-17C606EF870C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3D328641-4296-4AE0-A52D-A7223ADE5593}" type="pres">
      <dgm:prSet presAssocID="{F67BC946-5F65-4015-A576-17C606EF870C}" presName="desTx" presStyleLbl="alignAccFollowNode1" presStyleIdx="1" presStyleCnt="3">
        <dgm:presLayoutVars>
          <dgm:bulletEnabled val="1"/>
        </dgm:presLayoutVars>
      </dgm:prSet>
      <dgm:spPr/>
    </dgm:pt>
    <dgm:pt modelId="{A286B7B5-35CB-4F36-846D-563E2EFC43B3}" type="pres">
      <dgm:prSet presAssocID="{D848D265-04CE-40A9-A12D-00618DC495C7}" presName="space" presStyleCnt="0"/>
      <dgm:spPr/>
    </dgm:pt>
    <dgm:pt modelId="{F19C704D-23DC-4CB3-B678-614ADC4A9AC5}" type="pres">
      <dgm:prSet presAssocID="{38293AC7-950F-423A-9041-7F0822BADEDB}" presName="composite" presStyleCnt="0"/>
      <dgm:spPr/>
    </dgm:pt>
    <dgm:pt modelId="{45C27D7D-7CE6-4962-8748-5187366A1908}" type="pres">
      <dgm:prSet presAssocID="{38293AC7-950F-423A-9041-7F0822BADEDB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7FB718D9-4761-4ADA-AD3A-38DDDA6BFA81}" type="pres">
      <dgm:prSet presAssocID="{38293AC7-950F-423A-9041-7F0822BADEDB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AA005002-C2F6-4E57-9864-CF2A350459FE}" type="presOf" srcId="{7F162AB0-0B97-4DCA-89B2-60FFF21FFA6A}" destId="{ED8EF22D-0D4F-400E-A19A-830E129C4CCC}" srcOrd="0" destOrd="0" presId="urn:microsoft.com/office/officeart/2005/8/layout/hList1"/>
    <dgm:cxn modelId="{AC08540B-0849-4357-8FE9-1F0082C4B195}" srcId="{38293AC7-950F-423A-9041-7F0822BADEDB}" destId="{BB5C2869-8625-4A91-BC9B-591E7D403BBC}" srcOrd="0" destOrd="0" parTransId="{F51FE938-868A-4985-8ADF-8E12F204A1D5}" sibTransId="{48F8550A-8DE1-4505-B57F-AB79309E8412}"/>
    <dgm:cxn modelId="{C9C3A60B-91F6-4EEB-8C4C-3D58A629698B}" type="presOf" srcId="{416AD0C0-DEC3-4D72-A5B3-781604402C7E}" destId="{7FB718D9-4761-4ADA-AD3A-38DDDA6BFA81}" srcOrd="0" destOrd="2" presId="urn:microsoft.com/office/officeart/2005/8/layout/hList1"/>
    <dgm:cxn modelId="{5B7F571F-B99E-4817-A034-DA5F2F7C28D9}" type="presOf" srcId="{54F5C54A-1243-42C4-8BC9-AB3A8AD733DE}" destId="{6B27FA7F-6B65-4A8C-9882-9C1FBA8E0C7E}" srcOrd="0" destOrd="2" presId="urn:microsoft.com/office/officeart/2005/8/layout/hList1"/>
    <dgm:cxn modelId="{D31ACF21-9C81-4059-8F85-CB780352003C}" type="presOf" srcId="{BB5C2869-8625-4A91-BC9B-591E7D403BBC}" destId="{7FB718D9-4761-4ADA-AD3A-38DDDA6BFA81}" srcOrd="0" destOrd="0" presId="urn:microsoft.com/office/officeart/2005/8/layout/hList1"/>
    <dgm:cxn modelId="{E03D2123-6AFB-4F1A-9D56-5C37B6E7FBFB}" srcId="{F67BC946-5F65-4015-A576-17C606EF870C}" destId="{3DC4DF34-B33E-49C8-BCC5-8CC8BFD34FDE}" srcOrd="1" destOrd="0" parTransId="{758CCE5C-7BA1-4C5F-8127-7A647A26B9ED}" sibTransId="{F42DB8B6-7ED2-431F-9338-2D1A0327C2D0}"/>
    <dgm:cxn modelId="{A1B4A835-A541-4615-BBC9-7B6FE28CB339}" srcId="{38293AC7-950F-423A-9041-7F0822BADEDB}" destId="{A4B7623C-E27A-448E-99E5-B1CD256BA24A}" srcOrd="3" destOrd="0" parTransId="{EC7428AB-424B-4421-A1C4-54031D5F76FC}" sibTransId="{F978D8B6-B5A4-460D-9B03-63ED166D88B1}"/>
    <dgm:cxn modelId="{83C26842-21C6-4B88-AE9A-07539CCCFED7}" type="presOf" srcId="{041E393C-A09E-4848-8A4E-4F41553E03BD}" destId="{3D328641-4296-4AE0-A52D-A7223ADE5593}" srcOrd="0" destOrd="2" presId="urn:microsoft.com/office/officeart/2005/8/layout/hList1"/>
    <dgm:cxn modelId="{E966AC45-5045-4F67-9AB2-465C57E8BF37}" srcId="{E79B8187-167A-4972-B8A8-303F274EA540}" destId="{2DC83413-7B6A-40E3-A756-8B3438CCD575}" srcOrd="1" destOrd="0" parTransId="{BFFC65F9-B8E5-422D-972B-34904A8492DF}" sibTransId="{77DFFF05-2AC5-4388-BA56-52F976760DBF}"/>
    <dgm:cxn modelId="{AC89CF65-9FE7-43AB-9E9E-6058A55AAE33}" type="presOf" srcId="{A82974BB-D8ED-48BF-A132-905A6EAD1D50}" destId="{6B27FA7F-6B65-4A8C-9882-9C1FBA8E0C7E}" srcOrd="0" destOrd="0" presId="urn:microsoft.com/office/officeart/2005/8/layout/hList1"/>
    <dgm:cxn modelId="{85D7D567-3ABE-4632-87BA-BAEB4210D5E2}" type="presOf" srcId="{A4B7623C-E27A-448E-99E5-B1CD256BA24A}" destId="{7FB718D9-4761-4ADA-AD3A-38DDDA6BFA81}" srcOrd="0" destOrd="3" presId="urn:microsoft.com/office/officeart/2005/8/layout/hList1"/>
    <dgm:cxn modelId="{410AA94F-9F48-4616-BD8C-DFF96C55B996}" srcId="{F67BC946-5F65-4015-A576-17C606EF870C}" destId="{9C3ABF8A-5A58-4495-9F18-9F6AA6FD9813}" srcOrd="0" destOrd="0" parTransId="{25E9364B-940C-4CE8-A0CF-02264F60A555}" sibTransId="{63156A98-0841-4479-B208-43C88EA29E0B}"/>
    <dgm:cxn modelId="{8E9C0E7A-D0CC-42D1-9429-A97B561604A4}" srcId="{E79B8187-167A-4972-B8A8-303F274EA540}" destId="{A82974BB-D8ED-48BF-A132-905A6EAD1D50}" srcOrd="0" destOrd="0" parTransId="{4BF51720-05A5-4773-B48E-DD8D4C3A7B18}" sibTransId="{D45D8756-46F1-4F94-9306-3132F65E936B}"/>
    <dgm:cxn modelId="{6306117A-CCE0-4F32-8BC6-24F013A11E91}" srcId="{38293AC7-950F-423A-9041-7F0822BADEDB}" destId="{6113141E-6C67-4034-8EA5-F7C6CA9D34E8}" srcOrd="1" destOrd="0" parTransId="{76684A5B-1FD6-4083-A48A-075A9523A2DD}" sibTransId="{866619BF-635D-410D-854D-A09E42C8F9F6}"/>
    <dgm:cxn modelId="{9D8D1D7C-A2A7-493D-A9EC-E25738BB3265}" srcId="{7F162AB0-0B97-4DCA-89B2-60FFF21FFA6A}" destId="{E79B8187-167A-4972-B8A8-303F274EA540}" srcOrd="0" destOrd="0" parTransId="{94A1F669-26E7-4D89-BE63-2BED5B9D2CA5}" sibTransId="{1E39315A-598D-4595-9BB5-5CA2B902A6A1}"/>
    <dgm:cxn modelId="{751A057F-9371-4214-8DAE-166DD1314AA0}" srcId="{7F162AB0-0B97-4DCA-89B2-60FFF21FFA6A}" destId="{38293AC7-950F-423A-9041-7F0822BADEDB}" srcOrd="2" destOrd="0" parTransId="{F099E009-3306-479B-AA73-34C43E70FF34}" sibTransId="{2E15BFF5-74D8-451C-989E-514C120013F7}"/>
    <dgm:cxn modelId="{08090A81-3DF7-485A-A700-50DE099F647B}" srcId="{7F162AB0-0B97-4DCA-89B2-60FFF21FFA6A}" destId="{F67BC946-5F65-4015-A576-17C606EF870C}" srcOrd="1" destOrd="0" parTransId="{1DEEF854-9532-4AB2-8470-79631D51863B}" sibTransId="{D848D265-04CE-40A9-A12D-00618DC495C7}"/>
    <dgm:cxn modelId="{5E946681-64B6-4CEB-AC15-C8F93BDC7FDC}" type="presOf" srcId="{6113141E-6C67-4034-8EA5-F7C6CA9D34E8}" destId="{7FB718D9-4761-4ADA-AD3A-38DDDA6BFA81}" srcOrd="0" destOrd="1" presId="urn:microsoft.com/office/officeart/2005/8/layout/hList1"/>
    <dgm:cxn modelId="{96308C99-0DC2-4A69-8987-7B1C9B07B52B}" type="presOf" srcId="{9C3ABF8A-5A58-4495-9F18-9F6AA6FD9813}" destId="{3D328641-4296-4AE0-A52D-A7223ADE5593}" srcOrd="0" destOrd="0" presId="urn:microsoft.com/office/officeart/2005/8/layout/hList1"/>
    <dgm:cxn modelId="{2D16FC99-FA41-4526-85E2-26EA108CE35D}" srcId="{38293AC7-950F-423A-9041-7F0822BADEDB}" destId="{416AD0C0-DEC3-4D72-A5B3-781604402C7E}" srcOrd="2" destOrd="0" parTransId="{A2FFEBB1-5ED1-4FA3-8810-7ECAC65B26E1}" sibTransId="{655004B5-F25B-41AC-B65E-1155F7A0FDD8}"/>
    <dgm:cxn modelId="{6105F8A8-15BB-48F1-B2B6-417ACD747BD6}" srcId="{F67BC946-5F65-4015-A576-17C606EF870C}" destId="{4B4599F4-CB6F-4152-BC25-0E2339E998F3}" srcOrd="3" destOrd="0" parTransId="{5177B0B3-B7A0-4A37-B998-7825ACC61C21}" sibTransId="{4AB5DEEE-5BDD-4CD1-9E8A-1B811740D1BE}"/>
    <dgm:cxn modelId="{812239B1-21DE-4AA1-A82A-44C8A42CCDDC}" type="presOf" srcId="{E79B8187-167A-4972-B8A8-303F274EA540}" destId="{F46A4996-4764-40A8-8372-BB2E77647E1C}" srcOrd="0" destOrd="0" presId="urn:microsoft.com/office/officeart/2005/8/layout/hList1"/>
    <dgm:cxn modelId="{AC8173B2-3EF8-4B34-97D0-2365755161F4}" srcId="{E79B8187-167A-4972-B8A8-303F274EA540}" destId="{54F5C54A-1243-42C4-8BC9-AB3A8AD733DE}" srcOrd="2" destOrd="0" parTransId="{8095D0B8-A7B9-4BD7-8FB2-3B5039EF8825}" sibTransId="{B963610F-4F4D-4BBB-8307-178EDE4FFD03}"/>
    <dgm:cxn modelId="{514821BF-7119-4EB5-9F33-9CF4CF80A886}" type="presOf" srcId="{38293AC7-950F-423A-9041-7F0822BADEDB}" destId="{45C27D7D-7CE6-4962-8748-5187366A1908}" srcOrd="0" destOrd="0" presId="urn:microsoft.com/office/officeart/2005/8/layout/hList1"/>
    <dgm:cxn modelId="{962AE5C8-4BA9-4254-ABC8-E2191A680F97}" type="presOf" srcId="{F67BC946-5F65-4015-A576-17C606EF870C}" destId="{836E2460-6FE7-44D1-A0D0-F678F1B52DF3}" srcOrd="0" destOrd="0" presId="urn:microsoft.com/office/officeart/2005/8/layout/hList1"/>
    <dgm:cxn modelId="{7258CFCE-CC42-4A6A-909C-058CFDF92461}" srcId="{F67BC946-5F65-4015-A576-17C606EF870C}" destId="{041E393C-A09E-4848-8A4E-4F41553E03BD}" srcOrd="2" destOrd="0" parTransId="{32139948-14BD-43A2-B74A-423DB5A6C3E3}" sibTransId="{5D08E8CF-B926-42D2-B50C-5CC9B0F9DA36}"/>
    <dgm:cxn modelId="{618D7AD1-6BAE-4B9E-9395-EC6556B877A9}" type="presOf" srcId="{4B4599F4-CB6F-4152-BC25-0E2339E998F3}" destId="{3D328641-4296-4AE0-A52D-A7223ADE5593}" srcOrd="0" destOrd="3" presId="urn:microsoft.com/office/officeart/2005/8/layout/hList1"/>
    <dgm:cxn modelId="{FD8265D5-AFB7-4882-BD75-66989E9FA8F1}" type="presOf" srcId="{3DC4DF34-B33E-49C8-BCC5-8CC8BFD34FDE}" destId="{3D328641-4296-4AE0-A52D-A7223ADE5593}" srcOrd="0" destOrd="1" presId="urn:microsoft.com/office/officeart/2005/8/layout/hList1"/>
    <dgm:cxn modelId="{8E8301FC-082D-4AB1-9D6F-33FA45361091}" type="presOf" srcId="{2DC83413-7B6A-40E3-A756-8B3438CCD575}" destId="{6B27FA7F-6B65-4A8C-9882-9C1FBA8E0C7E}" srcOrd="0" destOrd="1" presId="urn:microsoft.com/office/officeart/2005/8/layout/hList1"/>
    <dgm:cxn modelId="{AB61279B-4C05-4063-B9F0-E8A4D3BDFC6B}" type="presParOf" srcId="{ED8EF22D-0D4F-400E-A19A-830E129C4CCC}" destId="{C7F13450-40A6-449F-96B0-F934E8290365}" srcOrd="0" destOrd="0" presId="urn:microsoft.com/office/officeart/2005/8/layout/hList1"/>
    <dgm:cxn modelId="{238AABCF-6F7D-4447-B029-C2282D08E617}" type="presParOf" srcId="{C7F13450-40A6-449F-96B0-F934E8290365}" destId="{F46A4996-4764-40A8-8372-BB2E77647E1C}" srcOrd="0" destOrd="0" presId="urn:microsoft.com/office/officeart/2005/8/layout/hList1"/>
    <dgm:cxn modelId="{81789834-3D5C-4FE3-ACD3-91F383FC7F25}" type="presParOf" srcId="{C7F13450-40A6-449F-96B0-F934E8290365}" destId="{6B27FA7F-6B65-4A8C-9882-9C1FBA8E0C7E}" srcOrd="1" destOrd="0" presId="urn:microsoft.com/office/officeart/2005/8/layout/hList1"/>
    <dgm:cxn modelId="{7441C36D-DC90-4A36-9A6E-0E53D88279E5}" type="presParOf" srcId="{ED8EF22D-0D4F-400E-A19A-830E129C4CCC}" destId="{79EFF586-2DB7-4968-BC8B-E8E93EB9F1D3}" srcOrd="1" destOrd="0" presId="urn:microsoft.com/office/officeart/2005/8/layout/hList1"/>
    <dgm:cxn modelId="{789CF31F-18B9-4F09-B449-87EC0A7B486F}" type="presParOf" srcId="{ED8EF22D-0D4F-400E-A19A-830E129C4CCC}" destId="{7C78B1E9-D0AB-43A9-99E2-C4B80FA9D4A8}" srcOrd="2" destOrd="0" presId="urn:microsoft.com/office/officeart/2005/8/layout/hList1"/>
    <dgm:cxn modelId="{F607FE41-99B4-4B2D-AAD8-CB36ED457D04}" type="presParOf" srcId="{7C78B1E9-D0AB-43A9-99E2-C4B80FA9D4A8}" destId="{836E2460-6FE7-44D1-A0D0-F678F1B52DF3}" srcOrd="0" destOrd="0" presId="urn:microsoft.com/office/officeart/2005/8/layout/hList1"/>
    <dgm:cxn modelId="{ACDAA288-7B50-4EF7-8F74-C39A83272391}" type="presParOf" srcId="{7C78B1E9-D0AB-43A9-99E2-C4B80FA9D4A8}" destId="{3D328641-4296-4AE0-A52D-A7223ADE5593}" srcOrd="1" destOrd="0" presId="urn:microsoft.com/office/officeart/2005/8/layout/hList1"/>
    <dgm:cxn modelId="{E180F245-BF0C-4E4B-A217-0AFCC430093C}" type="presParOf" srcId="{ED8EF22D-0D4F-400E-A19A-830E129C4CCC}" destId="{A286B7B5-35CB-4F36-846D-563E2EFC43B3}" srcOrd="3" destOrd="0" presId="urn:microsoft.com/office/officeart/2005/8/layout/hList1"/>
    <dgm:cxn modelId="{902CEA68-54BE-4017-8E68-A3C38CDD392D}" type="presParOf" srcId="{ED8EF22D-0D4F-400E-A19A-830E129C4CCC}" destId="{F19C704D-23DC-4CB3-B678-614ADC4A9AC5}" srcOrd="4" destOrd="0" presId="urn:microsoft.com/office/officeart/2005/8/layout/hList1"/>
    <dgm:cxn modelId="{2B3F9B25-E3D3-47FC-88E2-77F1DC6152FE}" type="presParOf" srcId="{F19C704D-23DC-4CB3-B678-614ADC4A9AC5}" destId="{45C27D7D-7CE6-4962-8748-5187366A1908}" srcOrd="0" destOrd="0" presId="urn:microsoft.com/office/officeart/2005/8/layout/hList1"/>
    <dgm:cxn modelId="{07BA527C-E6AC-4E73-9287-B5091C56D5A4}" type="presParOf" srcId="{F19C704D-23DC-4CB3-B678-614ADC4A9AC5}" destId="{7FB718D9-4761-4ADA-AD3A-38DDDA6BFA81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96814EB-A837-4390-9CC7-BB8037808B3D}" type="doc">
      <dgm:prSet loTypeId="urn:microsoft.com/office/officeart/2005/8/layout/vList2" loCatId="list" qsTypeId="urn:microsoft.com/office/officeart/2005/8/quickstyle/simple2#1" qsCatId="simple" csTypeId="urn:microsoft.com/office/officeart/2005/8/colors/accent6_2#1" csCatId="accent6" phldr="1"/>
      <dgm:spPr/>
      <dgm:t>
        <a:bodyPr/>
        <a:lstStyle/>
        <a:p>
          <a:endParaRPr lang="en-US"/>
        </a:p>
      </dgm:t>
    </dgm:pt>
    <dgm:pt modelId="{340C23C8-E38D-470C-8B83-04C1081455E5}">
      <dgm:prSet phldrT="[Text]"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800" b="0" dirty="0">
              <a:ea typeface="+mn-ea"/>
              <a:cs typeface="+mn-cs"/>
            </a:rPr>
            <a:t>Target Embedded Hardware:</a:t>
          </a:r>
          <a:r>
            <a:rPr lang="en-US" sz="800" dirty="0">
              <a:ea typeface="+mn-ea"/>
              <a:cs typeface="+mn-cs"/>
            </a:rPr>
            <a:t> AMD/Xilinx Zynq </a:t>
          </a:r>
          <a:r>
            <a:rPr lang="en-US" sz="800" dirty="0" err="1">
              <a:ea typeface="+mn-ea"/>
              <a:cs typeface="+mn-cs"/>
            </a:rPr>
            <a:t>UltraScale</a:t>
          </a:r>
          <a:r>
            <a:rPr lang="en-US" sz="800" dirty="0">
              <a:ea typeface="+mn-ea"/>
              <a:cs typeface="+mn-cs"/>
            </a:rPr>
            <a:t>+ </a:t>
          </a:r>
          <a:r>
            <a:rPr lang="en-US" sz="800" dirty="0" err="1">
              <a:ea typeface="+mn-ea"/>
              <a:cs typeface="+mn-cs"/>
            </a:rPr>
            <a:t>RFSoC</a:t>
          </a:r>
          <a:r>
            <a:rPr lang="en-US" sz="800" dirty="0">
              <a:ea typeface="+mn-ea"/>
              <a:cs typeface="+mn-cs"/>
            </a:rPr>
            <a:t> / NVIDIA Jetson Orin Nano </a:t>
          </a:r>
        </a:p>
      </dgm:t>
    </dgm:pt>
    <dgm:pt modelId="{33BC6ECA-C40A-486F-8C87-07523FB35B97}" type="parTrans" cxnId="{F2DCC3D5-66CB-4F53-9AD1-77FED3097C10}">
      <dgm:prSet/>
      <dgm:spPr/>
      <dgm:t>
        <a:bodyPr/>
        <a:lstStyle/>
        <a:p>
          <a:endParaRPr lang="en-US"/>
        </a:p>
      </dgm:t>
    </dgm:pt>
    <dgm:pt modelId="{4147600E-350B-43DC-A032-D624E07647E3}" type="sibTrans" cxnId="{F2DCC3D5-66CB-4F53-9AD1-77FED3097C10}">
      <dgm:prSet/>
      <dgm:spPr/>
      <dgm:t>
        <a:bodyPr/>
        <a:lstStyle/>
        <a:p>
          <a:endParaRPr lang="en-US"/>
        </a:p>
      </dgm:t>
    </dgm:pt>
    <dgm:pt modelId="{2BBBDE85-79A1-4842-B5F5-54FBF3334681}">
      <dgm:prSet phldrT="[Text]" phldr="0"/>
      <dgm:spPr/>
      <dgm:t>
        <a:bodyPr/>
        <a:lstStyle/>
        <a:p>
          <a:pPr algn="l" rtl="0">
            <a:lnSpc>
              <a:spcPct val="90000"/>
            </a:lnSpc>
          </a:pPr>
          <a:r>
            <a:rPr lang="en-US" sz="800" b="0">
              <a:ea typeface="+mn-ea"/>
              <a:cs typeface="+mn-cs"/>
            </a:rPr>
            <a:t>Core Language:</a:t>
          </a:r>
          <a:r>
            <a:rPr lang="en-US" sz="800">
              <a:ea typeface="+mn-ea"/>
              <a:cs typeface="+mn-cs"/>
            </a:rPr>
            <a:t> Python 3.12 (100% Native, Air-Gapped, Zero Cloud Dependencies) </a:t>
          </a:r>
          <a:br>
            <a:rPr lang="en-US" sz="800" dirty="0">
              <a:ea typeface="+mn-ea"/>
              <a:cs typeface="+mn-cs"/>
            </a:rPr>
          </a:br>
          <a:endParaRPr lang="en-US" sz="800" dirty="0">
            <a:ea typeface="+mn-ea"/>
            <a:cs typeface="+mn-cs"/>
          </a:endParaRPr>
        </a:p>
      </dgm:t>
    </dgm:pt>
    <dgm:pt modelId="{DD9987F4-A45F-4056-99A1-02CF84136D1C}" type="parTrans" cxnId="{01F0F8F2-D70D-477E-8F5F-05D8F1BD5150}">
      <dgm:prSet/>
      <dgm:spPr/>
    </dgm:pt>
    <dgm:pt modelId="{0430274D-92E8-464B-A043-858F5646F734}" type="sibTrans" cxnId="{01F0F8F2-D70D-477E-8F5F-05D8F1BD5150}">
      <dgm:prSet/>
      <dgm:spPr/>
    </dgm:pt>
    <dgm:pt modelId="{1CA0C240-237C-449B-9A58-90EE10EB620B}">
      <dgm:prSet phldrT="[Text]"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800" b="0" dirty="0">
              <a:ea typeface="+mn-ea"/>
              <a:cs typeface="+mn-cs"/>
            </a:rPr>
            <a:t>Deep Reinforcement Learning:</a:t>
          </a:r>
          <a:r>
            <a:rPr lang="en-US" sz="800" dirty="0">
              <a:ea typeface="+mn-ea"/>
              <a:cs typeface="+mn-cs"/>
            </a:rPr>
            <a:t> </a:t>
          </a:r>
          <a:r>
            <a:rPr lang="en-US" sz="800" dirty="0" err="1">
              <a:ea typeface="+mn-ea"/>
              <a:cs typeface="+mn-cs"/>
            </a:rPr>
            <a:t>PyTorch</a:t>
          </a:r>
          <a:r>
            <a:rPr lang="en-US" sz="800" dirty="0">
              <a:ea typeface="+mn-ea"/>
              <a:cs typeface="+mn-cs"/>
            </a:rPr>
            <a:t> (DQN with Prioritized Experience Replay &amp; INT8 Quantization) </a:t>
          </a:r>
          <a:br>
            <a:rPr lang="en-US" sz="800" dirty="0">
              <a:ea typeface="+mn-ea"/>
              <a:cs typeface="+mn-cs"/>
            </a:rPr>
          </a:br>
          <a:endParaRPr lang="en-US" sz="800" dirty="0">
            <a:ea typeface="+mn-ea"/>
            <a:cs typeface="+mn-cs"/>
          </a:endParaRPr>
        </a:p>
      </dgm:t>
    </dgm:pt>
    <dgm:pt modelId="{0F598A9F-68BF-4BC9-8858-DB69CE6D11AD}" type="parTrans" cxnId="{1F9BA49D-5969-4B17-9C19-F1E9403A6C1E}">
      <dgm:prSet/>
      <dgm:spPr/>
    </dgm:pt>
    <dgm:pt modelId="{0121EE4B-61E1-47B4-A435-85E983C25856}" type="sibTrans" cxnId="{1F9BA49D-5969-4B17-9C19-F1E9403A6C1E}">
      <dgm:prSet/>
      <dgm:spPr/>
    </dgm:pt>
    <dgm:pt modelId="{0A7FC59C-EB5D-4E0A-A0B5-9FCB344E0C27}">
      <dgm:prSet phldrT="[Text]"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800" b="0">
              <a:ea typeface="+mn-ea"/>
              <a:cs typeface="+mn-cs"/>
            </a:rPr>
            <a:t>Adversarial Bandit Framework:</a:t>
          </a:r>
          <a:r>
            <a:rPr lang="en-US" sz="800">
              <a:ea typeface="+mn-ea"/>
              <a:cs typeface="+mn-cs"/>
            </a:rPr>
            <a:t> NumPy &amp; SciPy (Vectorized Exp3 Regret-Minimization Engine) </a:t>
          </a:r>
          <a:br>
            <a:rPr lang="en-US" sz="800" dirty="0">
              <a:ea typeface="+mn-ea"/>
              <a:cs typeface="+mn-cs"/>
            </a:rPr>
          </a:br>
          <a:endParaRPr lang="en-US" sz="800" dirty="0">
            <a:ea typeface="+mn-ea"/>
            <a:cs typeface="+mn-cs"/>
          </a:endParaRPr>
        </a:p>
      </dgm:t>
    </dgm:pt>
    <dgm:pt modelId="{C86CB0B0-8CA9-4479-9FF5-B52D3B1DF14D}" type="parTrans" cxnId="{7293CD61-BADF-4A45-88BA-187577B1923E}">
      <dgm:prSet/>
      <dgm:spPr/>
    </dgm:pt>
    <dgm:pt modelId="{CDBDDD5C-149C-4810-B16A-586FAF54D024}" type="sibTrans" cxnId="{7293CD61-BADF-4A45-88BA-187577B1923E}">
      <dgm:prSet/>
      <dgm:spPr/>
    </dgm:pt>
    <dgm:pt modelId="{63F4DF9A-68A8-4CD2-8D43-7EE3BA3DC7E5}">
      <dgm:prSet phldrT="[Text]"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800" b="0">
              <a:ea typeface="+mn-ea"/>
              <a:cs typeface="+mn-cs"/>
            </a:rPr>
            <a:t>Environment &amp; Simulation:</a:t>
          </a:r>
          <a:r>
            <a:rPr lang="en-US" sz="800">
              <a:ea typeface="+mn-ea"/>
              <a:cs typeface="+mn-cs"/>
            </a:rPr>
            <a:t> Gymnasium (Discrete-Event RF Dwell &amp; Blind-Time Simulation) </a:t>
          </a:r>
          <a:br>
            <a:rPr lang="en-US" sz="800" dirty="0">
              <a:ea typeface="+mn-ea"/>
              <a:cs typeface="+mn-cs"/>
            </a:rPr>
          </a:br>
          <a:endParaRPr lang="en-US" sz="800" dirty="0">
            <a:ea typeface="+mn-ea"/>
            <a:cs typeface="+mn-cs"/>
          </a:endParaRPr>
        </a:p>
      </dgm:t>
    </dgm:pt>
    <dgm:pt modelId="{C4BB8C83-DE0C-47DB-8B45-E7764A42EFDF}" type="parTrans" cxnId="{45F39D44-867E-4F46-8DAB-75D9EFE8C7B6}">
      <dgm:prSet/>
      <dgm:spPr/>
    </dgm:pt>
    <dgm:pt modelId="{A7833B31-A7F5-4666-955B-D3F883925BCB}" type="sibTrans" cxnId="{45F39D44-867E-4F46-8DAB-75D9EFE8C7B6}">
      <dgm:prSet/>
      <dgm:spPr/>
    </dgm:pt>
    <dgm:pt modelId="{0D2749FE-6AE4-491A-A6CE-491CD540E73A}">
      <dgm:prSet phldrT="[Text]"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800" b="0">
              <a:ea typeface="+mn-ea"/>
              <a:cs typeface="+mn-cs"/>
            </a:rPr>
            <a:t>PDW Ingestion &amp; Parsing:</a:t>
          </a:r>
          <a:r>
            <a:rPr lang="en-US" sz="800">
              <a:ea typeface="+mn-ea"/>
              <a:cs typeface="+mn-cs"/>
            </a:rPr>
            <a:t> H5py &amp; Pandas (TSRD 5D Radar Stream I/O) </a:t>
          </a:r>
          <a:br>
            <a:rPr lang="en-US" sz="800" dirty="0">
              <a:ea typeface="+mn-ea"/>
              <a:cs typeface="+mn-cs"/>
            </a:rPr>
          </a:br>
          <a:endParaRPr lang="en-US" sz="800" dirty="0">
            <a:ea typeface="+mn-ea"/>
            <a:cs typeface="+mn-cs"/>
          </a:endParaRPr>
        </a:p>
      </dgm:t>
    </dgm:pt>
    <dgm:pt modelId="{806B7917-C5F6-4876-BDB3-8A4834909AB6}" type="parTrans" cxnId="{1D3860A7-1E46-4F78-A616-5BE8C1C14334}">
      <dgm:prSet/>
      <dgm:spPr/>
    </dgm:pt>
    <dgm:pt modelId="{DE8E7485-A0A6-4B53-B783-43A181BDA292}" type="sibTrans" cxnId="{1D3860A7-1E46-4F78-A616-5BE8C1C14334}">
      <dgm:prSet/>
      <dgm:spPr/>
    </dgm:pt>
    <dgm:pt modelId="{E67FAE36-EA1F-428D-938E-69932A939255}">
      <dgm:prSet phldrT="[Text]"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800" b="0" dirty="0">
              <a:ea typeface="+mn-ea"/>
              <a:cs typeface="+mn-cs"/>
            </a:rPr>
            <a:t>De-Interleaving Algorithm:</a:t>
          </a:r>
          <a:r>
            <a:rPr lang="en-US" sz="800" dirty="0">
              <a:ea typeface="+mn-ea"/>
              <a:cs typeface="+mn-cs"/>
            </a:rPr>
            <a:t> Streaming Sequential Difference </a:t>
          </a:r>
          <a:r>
            <a:rPr lang="en-US" sz="800" dirty="0" err="1">
              <a:ea typeface="+mn-ea"/>
              <a:cs typeface="+mn-cs"/>
            </a:rPr>
            <a:t>Histogramming</a:t>
          </a:r>
          <a:r>
            <a:rPr lang="en-US" sz="800" dirty="0">
              <a:ea typeface="+mn-ea"/>
              <a:cs typeface="+mn-cs"/>
            </a:rPr>
            <a:t> (SDIF Lineage) </a:t>
          </a:r>
          <a:br>
            <a:rPr lang="en-US" sz="800" dirty="0">
              <a:ea typeface="+mn-ea"/>
              <a:cs typeface="+mn-cs"/>
            </a:rPr>
          </a:br>
          <a:endParaRPr lang="en-US" sz="800" dirty="0">
            <a:ea typeface="+mn-ea"/>
            <a:cs typeface="+mn-cs"/>
          </a:endParaRPr>
        </a:p>
      </dgm:t>
    </dgm:pt>
    <dgm:pt modelId="{35B09A9B-90A1-4D24-9577-FE79C78874CB}" type="parTrans" cxnId="{8E3AC033-FB7E-4BC1-85BE-0A452167AA49}">
      <dgm:prSet/>
      <dgm:spPr/>
    </dgm:pt>
    <dgm:pt modelId="{34CC8EC1-04CB-437D-8897-736D95D82FBD}" type="sibTrans" cxnId="{8E3AC033-FB7E-4BC1-85BE-0A452167AA49}">
      <dgm:prSet/>
      <dgm:spPr/>
    </dgm:pt>
    <dgm:pt modelId="{7773AC14-36E2-4462-A2DA-8D63A52E826D}">
      <dgm:prSet phldrT="[Text]" phldr="0"/>
      <dgm:spPr/>
      <dgm:t>
        <a:bodyPr/>
        <a:lstStyle/>
        <a:p>
          <a:pPr algn="l">
            <a:lnSpc>
              <a:spcPct val="90000"/>
            </a:lnSpc>
          </a:pPr>
          <a:r>
            <a:rPr lang="en-US" sz="800" b="0">
              <a:ea typeface="+mn-ea"/>
              <a:cs typeface="+mn-cs"/>
            </a:rPr>
            <a:t>Synthesizer Latency Models:</a:t>
          </a:r>
          <a:r>
            <a:rPr lang="en-US" sz="800">
              <a:ea typeface="+mn-ea"/>
              <a:cs typeface="+mn-cs"/>
            </a:rPr>
            <a:t> Analog Devices ADF4371 &amp; Texas Instruments LMX2594 PLL Specifications </a:t>
          </a:r>
          <a:br>
            <a:rPr lang="en-US" sz="800" dirty="0">
              <a:ea typeface="+mn-ea"/>
              <a:cs typeface="+mn-cs"/>
            </a:rPr>
          </a:br>
          <a:endParaRPr lang="en-US" sz="800" dirty="0">
            <a:ea typeface="+mn-ea"/>
            <a:cs typeface="+mn-cs"/>
          </a:endParaRPr>
        </a:p>
      </dgm:t>
    </dgm:pt>
    <dgm:pt modelId="{02DF0AB1-CEC8-4902-A28E-40BF0AF683D0}" type="parTrans" cxnId="{E8306EDD-CC8A-4CA7-BCD9-39F30EA4BAE4}">
      <dgm:prSet/>
      <dgm:spPr/>
    </dgm:pt>
    <dgm:pt modelId="{1F4BC7B0-9B5D-48A9-88AF-2720DD1C6F2F}" type="sibTrans" cxnId="{E8306EDD-CC8A-4CA7-BCD9-39F30EA4BAE4}">
      <dgm:prSet/>
      <dgm:spPr/>
    </dgm:pt>
    <dgm:pt modelId="{F61C2577-9735-49A8-AEAC-A05467691110}" type="pres">
      <dgm:prSet presAssocID="{696814EB-A837-4390-9CC7-BB8037808B3D}" presName="linear" presStyleCnt="0">
        <dgm:presLayoutVars>
          <dgm:animLvl val="lvl"/>
          <dgm:resizeHandles val="exact"/>
        </dgm:presLayoutVars>
      </dgm:prSet>
      <dgm:spPr/>
    </dgm:pt>
    <dgm:pt modelId="{318D388E-7A6E-45A4-9828-5590E0E78A67}" type="pres">
      <dgm:prSet presAssocID="{2BBBDE85-79A1-4842-B5F5-54FBF3334681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1635F02F-AF3D-41D7-8764-89AFCC7324E1}" type="pres">
      <dgm:prSet presAssocID="{0430274D-92E8-464B-A043-858F5646F734}" presName="spacer" presStyleCnt="0"/>
      <dgm:spPr/>
    </dgm:pt>
    <dgm:pt modelId="{4B6A21A6-F607-4BE0-9EB5-74D79346FE82}" type="pres">
      <dgm:prSet presAssocID="{1CA0C240-237C-449B-9A58-90EE10EB620B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69749B00-D304-4E71-8153-1D89F987009D}" type="pres">
      <dgm:prSet presAssocID="{0121EE4B-61E1-47B4-A435-85E983C25856}" presName="spacer" presStyleCnt="0"/>
      <dgm:spPr/>
    </dgm:pt>
    <dgm:pt modelId="{CCFD8E81-4D8E-476E-90E5-63A8FABC0997}" type="pres">
      <dgm:prSet presAssocID="{0A7FC59C-EB5D-4E0A-A0B5-9FCB344E0C27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988822B8-923B-4592-9395-875CDFFD7A78}" type="pres">
      <dgm:prSet presAssocID="{CDBDDD5C-149C-4810-B16A-586FAF54D024}" presName="spacer" presStyleCnt="0"/>
      <dgm:spPr/>
    </dgm:pt>
    <dgm:pt modelId="{F44B53CC-5E4F-4E2F-A872-094B4E5CF75E}" type="pres">
      <dgm:prSet presAssocID="{63F4DF9A-68A8-4CD2-8D43-7EE3BA3DC7E5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E13A718A-AAAE-4E33-819F-429D345407B3}" type="pres">
      <dgm:prSet presAssocID="{A7833B31-A7F5-4666-955B-D3F883925BCB}" presName="spacer" presStyleCnt="0"/>
      <dgm:spPr/>
    </dgm:pt>
    <dgm:pt modelId="{988C892B-CF51-45FF-B48C-FE9B6359D22F}" type="pres">
      <dgm:prSet presAssocID="{0D2749FE-6AE4-491A-A6CE-491CD540E73A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6F910FE3-5973-4FA3-9FC8-279D0DFA5099}" type="pres">
      <dgm:prSet presAssocID="{DE8E7485-A0A6-4B53-B783-43A181BDA292}" presName="spacer" presStyleCnt="0"/>
      <dgm:spPr/>
    </dgm:pt>
    <dgm:pt modelId="{BEE4F667-97C9-45A1-8AC5-7C0A978311F4}" type="pres">
      <dgm:prSet presAssocID="{E67FAE36-EA1F-428D-938E-69932A939255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6B597525-07ED-4000-9437-59BE34B36250}" type="pres">
      <dgm:prSet presAssocID="{34CC8EC1-04CB-437D-8897-736D95D82FBD}" presName="spacer" presStyleCnt="0"/>
      <dgm:spPr/>
    </dgm:pt>
    <dgm:pt modelId="{D637B427-260A-493E-97B3-79064D625C14}" type="pres">
      <dgm:prSet presAssocID="{7773AC14-36E2-4462-A2DA-8D63A52E826D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02DDCE06-A287-48CE-8447-E6A6D202FE93}" type="pres">
      <dgm:prSet presAssocID="{1F4BC7B0-9B5D-48A9-88AF-2720DD1C6F2F}" presName="spacer" presStyleCnt="0"/>
      <dgm:spPr/>
    </dgm:pt>
    <dgm:pt modelId="{1BBB3159-AA1D-43EB-B993-1C3F9B8B6DFF}" type="pres">
      <dgm:prSet presAssocID="{340C23C8-E38D-470C-8B83-04C1081455E5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95934307-463A-467F-A48F-CB457E60922C}" type="presOf" srcId="{340C23C8-E38D-470C-8B83-04C1081455E5}" destId="{1BBB3159-AA1D-43EB-B993-1C3F9B8B6DFF}" srcOrd="0" destOrd="0" presId="urn:microsoft.com/office/officeart/2005/8/layout/vList2"/>
    <dgm:cxn modelId="{C3678733-4033-4287-8581-6C2D13FC10D4}" type="presOf" srcId="{2BBBDE85-79A1-4842-B5F5-54FBF3334681}" destId="{318D388E-7A6E-45A4-9828-5590E0E78A67}" srcOrd="0" destOrd="0" presId="urn:microsoft.com/office/officeart/2005/8/layout/vList2"/>
    <dgm:cxn modelId="{8E3AC033-FB7E-4BC1-85BE-0A452167AA49}" srcId="{696814EB-A837-4390-9CC7-BB8037808B3D}" destId="{E67FAE36-EA1F-428D-938E-69932A939255}" srcOrd="5" destOrd="0" parTransId="{35B09A9B-90A1-4D24-9577-FE79C78874CB}" sibTransId="{34CC8EC1-04CB-437D-8897-736D95D82FBD}"/>
    <dgm:cxn modelId="{4AFE4A35-D510-4CC0-82FE-7259CA6AEEA1}" type="presOf" srcId="{1CA0C240-237C-449B-9A58-90EE10EB620B}" destId="{4B6A21A6-F607-4BE0-9EB5-74D79346FE82}" srcOrd="0" destOrd="0" presId="urn:microsoft.com/office/officeart/2005/8/layout/vList2"/>
    <dgm:cxn modelId="{7293CD61-BADF-4A45-88BA-187577B1923E}" srcId="{696814EB-A837-4390-9CC7-BB8037808B3D}" destId="{0A7FC59C-EB5D-4E0A-A0B5-9FCB344E0C27}" srcOrd="2" destOrd="0" parTransId="{C86CB0B0-8CA9-4479-9FF5-B52D3B1DF14D}" sibTransId="{CDBDDD5C-149C-4810-B16A-586FAF54D024}"/>
    <dgm:cxn modelId="{45F39D44-867E-4F46-8DAB-75D9EFE8C7B6}" srcId="{696814EB-A837-4390-9CC7-BB8037808B3D}" destId="{63F4DF9A-68A8-4CD2-8D43-7EE3BA3DC7E5}" srcOrd="3" destOrd="0" parTransId="{C4BB8C83-DE0C-47DB-8B45-E7764A42EFDF}" sibTransId="{A7833B31-A7F5-4666-955B-D3F883925BCB}"/>
    <dgm:cxn modelId="{62AEF250-6C0E-4034-A812-0AD528B4B4D8}" type="presOf" srcId="{E67FAE36-EA1F-428D-938E-69932A939255}" destId="{BEE4F667-97C9-45A1-8AC5-7C0A978311F4}" srcOrd="0" destOrd="0" presId="urn:microsoft.com/office/officeart/2005/8/layout/vList2"/>
    <dgm:cxn modelId="{77C1D593-2053-485C-BEB2-E47571B4B591}" type="presOf" srcId="{0A7FC59C-EB5D-4E0A-A0B5-9FCB344E0C27}" destId="{CCFD8E81-4D8E-476E-90E5-63A8FABC0997}" srcOrd="0" destOrd="0" presId="urn:microsoft.com/office/officeart/2005/8/layout/vList2"/>
    <dgm:cxn modelId="{1F9BA49D-5969-4B17-9C19-F1E9403A6C1E}" srcId="{696814EB-A837-4390-9CC7-BB8037808B3D}" destId="{1CA0C240-237C-449B-9A58-90EE10EB620B}" srcOrd="1" destOrd="0" parTransId="{0F598A9F-68BF-4BC9-8858-DB69CE6D11AD}" sibTransId="{0121EE4B-61E1-47B4-A435-85E983C25856}"/>
    <dgm:cxn modelId="{F16DEAA2-76CC-4860-94C6-3B0972192BEF}" type="presOf" srcId="{0D2749FE-6AE4-491A-A6CE-491CD540E73A}" destId="{988C892B-CF51-45FF-B48C-FE9B6359D22F}" srcOrd="0" destOrd="0" presId="urn:microsoft.com/office/officeart/2005/8/layout/vList2"/>
    <dgm:cxn modelId="{1D3860A7-1E46-4F78-A616-5BE8C1C14334}" srcId="{696814EB-A837-4390-9CC7-BB8037808B3D}" destId="{0D2749FE-6AE4-491A-A6CE-491CD540E73A}" srcOrd="4" destOrd="0" parTransId="{806B7917-C5F6-4876-BDB3-8A4834909AB6}" sibTransId="{DE8E7485-A0A6-4B53-B783-43A181BDA292}"/>
    <dgm:cxn modelId="{F2DCC3D5-66CB-4F53-9AD1-77FED3097C10}" srcId="{696814EB-A837-4390-9CC7-BB8037808B3D}" destId="{340C23C8-E38D-470C-8B83-04C1081455E5}" srcOrd="7" destOrd="0" parTransId="{33BC6ECA-C40A-486F-8C87-07523FB35B97}" sibTransId="{4147600E-350B-43DC-A032-D624E07647E3}"/>
    <dgm:cxn modelId="{E8306EDD-CC8A-4CA7-BCD9-39F30EA4BAE4}" srcId="{696814EB-A837-4390-9CC7-BB8037808B3D}" destId="{7773AC14-36E2-4462-A2DA-8D63A52E826D}" srcOrd="6" destOrd="0" parTransId="{02DF0AB1-CEC8-4902-A28E-40BF0AF683D0}" sibTransId="{1F4BC7B0-9B5D-48A9-88AF-2720DD1C6F2F}"/>
    <dgm:cxn modelId="{6DDB9FE4-91A7-4DC4-8DC9-F3A2CEE76BBB}" type="presOf" srcId="{7773AC14-36E2-4462-A2DA-8D63A52E826D}" destId="{D637B427-260A-493E-97B3-79064D625C14}" srcOrd="0" destOrd="0" presId="urn:microsoft.com/office/officeart/2005/8/layout/vList2"/>
    <dgm:cxn modelId="{741102ED-9EF6-4AC4-82C9-FA8462842C1F}" type="presOf" srcId="{63F4DF9A-68A8-4CD2-8D43-7EE3BA3DC7E5}" destId="{F44B53CC-5E4F-4E2F-A872-094B4E5CF75E}" srcOrd="0" destOrd="0" presId="urn:microsoft.com/office/officeart/2005/8/layout/vList2"/>
    <dgm:cxn modelId="{01F0F8F2-D70D-477E-8F5F-05D8F1BD5150}" srcId="{696814EB-A837-4390-9CC7-BB8037808B3D}" destId="{2BBBDE85-79A1-4842-B5F5-54FBF3334681}" srcOrd="0" destOrd="0" parTransId="{DD9987F4-A45F-4056-99A1-02CF84136D1C}" sibTransId="{0430274D-92E8-464B-A043-858F5646F734}"/>
    <dgm:cxn modelId="{BB1498F7-1CB1-4752-A510-F88F471DD42D}" type="presOf" srcId="{696814EB-A837-4390-9CC7-BB8037808B3D}" destId="{F61C2577-9735-49A8-AEAC-A05467691110}" srcOrd="0" destOrd="0" presId="urn:microsoft.com/office/officeart/2005/8/layout/vList2"/>
    <dgm:cxn modelId="{D9946BA0-18D3-46D3-A109-A847902D22EA}" type="presParOf" srcId="{F61C2577-9735-49A8-AEAC-A05467691110}" destId="{318D388E-7A6E-45A4-9828-5590E0E78A67}" srcOrd="0" destOrd="0" presId="urn:microsoft.com/office/officeart/2005/8/layout/vList2"/>
    <dgm:cxn modelId="{6357CC7A-26F6-46A1-9774-B12C9FCCB9C7}" type="presParOf" srcId="{F61C2577-9735-49A8-AEAC-A05467691110}" destId="{1635F02F-AF3D-41D7-8764-89AFCC7324E1}" srcOrd="1" destOrd="0" presId="urn:microsoft.com/office/officeart/2005/8/layout/vList2"/>
    <dgm:cxn modelId="{76850DDE-D0EA-45AB-9F3F-B0073FFB0184}" type="presParOf" srcId="{F61C2577-9735-49A8-AEAC-A05467691110}" destId="{4B6A21A6-F607-4BE0-9EB5-74D79346FE82}" srcOrd="2" destOrd="0" presId="urn:microsoft.com/office/officeart/2005/8/layout/vList2"/>
    <dgm:cxn modelId="{8B71EC0F-9D33-4E02-B0E2-FDD48173617F}" type="presParOf" srcId="{F61C2577-9735-49A8-AEAC-A05467691110}" destId="{69749B00-D304-4E71-8153-1D89F987009D}" srcOrd="3" destOrd="0" presId="urn:microsoft.com/office/officeart/2005/8/layout/vList2"/>
    <dgm:cxn modelId="{932206E5-335F-4BD8-B62E-68998F561ED0}" type="presParOf" srcId="{F61C2577-9735-49A8-AEAC-A05467691110}" destId="{CCFD8E81-4D8E-476E-90E5-63A8FABC0997}" srcOrd="4" destOrd="0" presId="urn:microsoft.com/office/officeart/2005/8/layout/vList2"/>
    <dgm:cxn modelId="{04EB2677-905C-4E2E-B60B-B13BF5442333}" type="presParOf" srcId="{F61C2577-9735-49A8-AEAC-A05467691110}" destId="{988822B8-923B-4592-9395-875CDFFD7A78}" srcOrd="5" destOrd="0" presId="urn:microsoft.com/office/officeart/2005/8/layout/vList2"/>
    <dgm:cxn modelId="{A0DE124B-E093-464A-BB9A-F4F7557BFDA9}" type="presParOf" srcId="{F61C2577-9735-49A8-AEAC-A05467691110}" destId="{F44B53CC-5E4F-4E2F-A872-094B4E5CF75E}" srcOrd="6" destOrd="0" presId="urn:microsoft.com/office/officeart/2005/8/layout/vList2"/>
    <dgm:cxn modelId="{DC830F37-6AE7-45FE-BDC4-5FC9B6455390}" type="presParOf" srcId="{F61C2577-9735-49A8-AEAC-A05467691110}" destId="{E13A718A-AAAE-4E33-819F-429D345407B3}" srcOrd="7" destOrd="0" presId="urn:microsoft.com/office/officeart/2005/8/layout/vList2"/>
    <dgm:cxn modelId="{4A0AAEED-BEB0-4F10-978B-FA37223C0A93}" type="presParOf" srcId="{F61C2577-9735-49A8-AEAC-A05467691110}" destId="{988C892B-CF51-45FF-B48C-FE9B6359D22F}" srcOrd="8" destOrd="0" presId="urn:microsoft.com/office/officeart/2005/8/layout/vList2"/>
    <dgm:cxn modelId="{EAE20CC9-202C-4D50-8408-E404ED2A2A8F}" type="presParOf" srcId="{F61C2577-9735-49A8-AEAC-A05467691110}" destId="{6F910FE3-5973-4FA3-9FC8-279D0DFA5099}" srcOrd="9" destOrd="0" presId="urn:microsoft.com/office/officeart/2005/8/layout/vList2"/>
    <dgm:cxn modelId="{5D5E9D6D-06DE-43D7-B5CE-BCE32F9610BE}" type="presParOf" srcId="{F61C2577-9735-49A8-AEAC-A05467691110}" destId="{BEE4F667-97C9-45A1-8AC5-7C0A978311F4}" srcOrd="10" destOrd="0" presId="urn:microsoft.com/office/officeart/2005/8/layout/vList2"/>
    <dgm:cxn modelId="{A3E5C681-958A-42E6-B917-C9E71AC3F27D}" type="presParOf" srcId="{F61C2577-9735-49A8-AEAC-A05467691110}" destId="{6B597525-07ED-4000-9437-59BE34B36250}" srcOrd="11" destOrd="0" presId="urn:microsoft.com/office/officeart/2005/8/layout/vList2"/>
    <dgm:cxn modelId="{763FCF82-15FF-4EF1-8A6F-77B6957892A1}" type="presParOf" srcId="{F61C2577-9735-49A8-AEAC-A05467691110}" destId="{D637B427-260A-493E-97B3-79064D625C14}" srcOrd="12" destOrd="0" presId="urn:microsoft.com/office/officeart/2005/8/layout/vList2"/>
    <dgm:cxn modelId="{7D185A21-867B-4142-B735-8AEAE8A7C163}" type="presParOf" srcId="{F61C2577-9735-49A8-AEAC-A05467691110}" destId="{02DDCE06-A287-48CE-8447-E6A6D202FE93}" srcOrd="13" destOrd="0" presId="urn:microsoft.com/office/officeart/2005/8/layout/vList2"/>
    <dgm:cxn modelId="{04C23012-0F20-4F10-AA8F-87A80FCA7B55}" type="presParOf" srcId="{F61C2577-9735-49A8-AEAC-A05467691110}" destId="{1BBB3159-AA1D-43EB-B993-1C3F9B8B6DFF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984F856-6D82-4272-A9B0-B2BD1A4F0412}" type="doc">
      <dgm:prSet loTypeId="urn:microsoft.com/office/officeart/2005/8/layout/hList1" loCatId="list" qsTypeId="urn:microsoft.com/office/officeart/2005/8/quickstyle/simple1#2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E0B0C203-06FE-4F71-ABAF-E5CA69C7337F}">
      <dgm:prSet phldrT="[Text]" phldr="0"/>
      <dgm:spPr/>
      <dgm:t>
        <a:bodyPr/>
        <a:lstStyle/>
        <a:p>
          <a:r>
            <a:rPr lang="en-US" dirty="0"/>
            <a:t>Economic</a:t>
          </a:r>
        </a:p>
      </dgm:t>
    </dgm:pt>
    <dgm:pt modelId="{BC97C272-6517-456B-9AC1-F5391C9FFD0F}" type="parTrans" cxnId="{7091C73B-1D4C-41C5-87E6-0D6DB7F35F9D}">
      <dgm:prSet/>
      <dgm:spPr/>
      <dgm:t>
        <a:bodyPr/>
        <a:lstStyle/>
        <a:p>
          <a:endParaRPr lang="en-US"/>
        </a:p>
      </dgm:t>
    </dgm:pt>
    <dgm:pt modelId="{8BB49B9E-2E8F-4B22-81C0-61A209E55165}" type="sibTrans" cxnId="{7091C73B-1D4C-41C5-87E6-0D6DB7F35F9D}">
      <dgm:prSet/>
      <dgm:spPr/>
      <dgm:t>
        <a:bodyPr/>
        <a:lstStyle/>
        <a:p>
          <a:endParaRPr lang="en-US"/>
        </a:p>
      </dgm:t>
    </dgm:pt>
    <dgm:pt modelId="{002C5CCB-FBAA-4785-B859-CA0E28D10896}">
      <dgm:prSet phldrT="[Text]" phldr="0"/>
      <dgm:spPr/>
      <dgm:t>
        <a:bodyPr/>
        <a:lstStyle/>
        <a:p>
          <a:pPr rtl="0"/>
          <a:r>
            <a:rPr lang="en-US" sz="1800" dirty="0"/>
            <a:t>Lowers dependency on costly foreign-sourced ESM technology, supporting indigenous defense manufacturing (Atmanirbhar Bharat in defense electronics)</a:t>
          </a:r>
        </a:p>
      </dgm:t>
    </dgm:pt>
    <dgm:pt modelId="{F52677D5-9CB9-44E1-8BF7-B2EDE0849229}" type="parTrans" cxnId="{E776E3CC-B498-409A-9C33-7744BF15FD7B}">
      <dgm:prSet/>
      <dgm:spPr/>
      <dgm:t>
        <a:bodyPr/>
        <a:lstStyle/>
        <a:p>
          <a:endParaRPr lang="en-US"/>
        </a:p>
      </dgm:t>
    </dgm:pt>
    <dgm:pt modelId="{EDF4C2B1-4014-46AB-8935-674483B87E06}" type="sibTrans" cxnId="{E776E3CC-B498-409A-9C33-7744BF15FD7B}">
      <dgm:prSet/>
      <dgm:spPr/>
      <dgm:t>
        <a:bodyPr/>
        <a:lstStyle/>
        <a:p>
          <a:endParaRPr lang="en-US"/>
        </a:p>
      </dgm:t>
    </dgm:pt>
    <dgm:pt modelId="{ED82736A-68AE-4D7C-AECF-8414C442CD81}">
      <dgm:prSet phldrT="[Text]" phldr="0"/>
      <dgm:spPr/>
      <dgm:t>
        <a:bodyPr/>
        <a:lstStyle/>
        <a:p>
          <a:pPr rtl="0"/>
          <a:r>
            <a:rPr lang="en-US"/>
            <a:t>Software-defined intelligence layered on existing hardware reduces the need for expensive receiver redesigns or additional RF front-end hardware</a:t>
          </a:r>
        </a:p>
      </dgm:t>
    </dgm:pt>
    <dgm:pt modelId="{EB0DA5FF-EF43-416F-9D94-CCDC2C90B9AA}" type="parTrans" cxnId="{A9821C68-7A97-4E93-B0F4-3C7441DBEE28}">
      <dgm:prSet/>
      <dgm:spPr/>
      <dgm:t>
        <a:bodyPr/>
        <a:lstStyle/>
        <a:p>
          <a:endParaRPr lang="en-US"/>
        </a:p>
      </dgm:t>
    </dgm:pt>
    <dgm:pt modelId="{44B40EFE-E8FF-4873-BCCE-1EC73C7B2157}" type="sibTrans" cxnId="{A9821C68-7A97-4E93-B0F4-3C7441DBEE28}">
      <dgm:prSet/>
      <dgm:spPr/>
      <dgm:t>
        <a:bodyPr/>
        <a:lstStyle/>
        <a:p>
          <a:endParaRPr lang="en-US"/>
        </a:p>
      </dgm:t>
    </dgm:pt>
    <dgm:pt modelId="{0B455233-A4AB-49AF-9A9D-272DCF3195CB}">
      <dgm:prSet phldrT="[Text]" phldr="0"/>
      <dgm:spPr/>
      <dgm:t>
        <a:bodyPr/>
        <a:lstStyle/>
        <a:p>
          <a:pPr rtl="0"/>
          <a:r>
            <a:rPr lang="en-US" dirty="0"/>
            <a:t>Environmental / Operational Efficiency</a:t>
          </a:r>
        </a:p>
      </dgm:t>
    </dgm:pt>
    <dgm:pt modelId="{9E91F9E6-90D8-4ABE-95A1-4069A6B3AC47}" type="parTrans" cxnId="{B27F9903-C256-497A-9DBA-289F231FBE0E}">
      <dgm:prSet/>
      <dgm:spPr/>
      <dgm:t>
        <a:bodyPr/>
        <a:lstStyle/>
        <a:p>
          <a:endParaRPr lang="en-US"/>
        </a:p>
      </dgm:t>
    </dgm:pt>
    <dgm:pt modelId="{D0FAB242-CE1F-4B68-AFE5-42CA5DD95C61}" type="sibTrans" cxnId="{B27F9903-C256-497A-9DBA-289F231FBE0E}">
      <dgm:prSet/>
      <dgm:spPr/>
      <dgm:t>
        <a:bodyPr/>
        <a:lstStyle/>
        <a:p>
          <a:endParaRPr lang="en-US"/>
        </a:p>
      </dgm:t>
    </dgm:pt>
    <dgm:pt modelId="{924C2BA3-2210-474D-9404-21F2DFD83D9F}">
      <dgm:prSet phldrT="[Text]" phldr="0"/>
      <dgm:spPr/>
      <dgm:t>
        <a:bodyPr/>
        <a:lstStyle/>
        <a:p>
          <a:pPr rtl="0"/>
          <a:r>
            <a:rPr lang="en-US" dirty="0" err="1"/>
            <a:t>SWaP</a:t>
          </a:r>
          <a:r>
            <a:rPr lang="en-US" dirty="0"/>
            <a:t>-C-aware design (Size, Weight, Power, Cost) avoids the extra power draw and thermal load of full-spectrum simultaneous </a:t>
          </a:r>
          <a:r>
            <a:rPr lang="en-US" dirty="0">
              <a:latin typeface="Calibri"/>
            </a:rPr>
            <a:t>digitization</a:t>
          </a:r>
        </a:p>
      </dgm:t>
    </dgm:pt>
    <dgm:pt modelId="{D72CEDF4-A5E7-494A-AF9D-5B2822E8AF9A}" type="parTrans" cxnId="{951B667F-9A1E-4EAF-8F25-3107E770907E}">
      <dgm:prSet/>
      <dgm:spPr/>
      <dgm:t>
        <a:bodyPr/>
        <a:lstStyle/>
        <a:p>
          <a:endParaRPr lang="en-US"/>
        </a:p>
      </dgm:t>
    </dgm:pt>
    <dgm:pt modelId="{2D823A3E-68C1-475C-917E-AFF3E5457F7E}" type="sibTrans" cxnId="{951B667F-9A1E-4EAF-8F25-3107E770907E}">
      <dgm:prSet/>
      <dgm:spPr/>
      <dgm:t>
        <a:bodyPr/>
        <a:lstStyle/>
        <a:p>
          <a:endParaRPr lang="en-US"/>
        </a:p>
      </dgm:t>
    </dgm:pt>
    <dgm:pt modelId="{CB731179-F2D7-487E-8171-D84321913AF5}">
      <dgm:prSet phldrT="[Text]" phldr="0"/>
      <dgm:spPr/>
      <dgm:t>
        <a:bodyPr/>
        <a:lstStyle/>
        <a:p>
          <a:pPr algn="l" rtl="0"/>
          <a:r>
            <a:rPr lang="en-US" i="1"/>
            <a:t>Social</a:t>
          </a:r>
          <a:endParaRPr lang="en-US">
            <a:latin typeface="Calibri"/>
          </a:endParaRPr>
        </a:p>
      </dgm:t>
    </dgm:pt>
    <dgm:pt modelId="{8132134A-3393-48E8-A37D-F7F9E106D8D5}" type="parTrans" cxnId="{1B190ED5-E9F3-47A6-9DE1-F6F9ED0A9074}">
      <dgm:prSet/>
      <dgm:spPr/>
    </dgm:pt>
    <dgm:pt modelId="{37EAE18D-A9F6-497B-A34F-7EF5AC16EE85}" type="sibTrans" cxnId="{1B190ED5-E9F3-47A6-9DE1-F6F9ED0A9074}">
      <dgm:prSet/>
      <dgm:spPr/>
    </dgm:pt>
    <dgm:pt modelId="{3D2438C9-B94C-44DF-BAEA-BA53E983307B}">
      <dgm:prSet phldrT="[Text]" phldr="0"/>
      <dgm:spPr/>
      <dgm:t>
        <a:bodyPr/>
        <a:lstStyle/>
        <a:p>
          <a:pPr algn="l" rtl="0"/>
          <a:r>
            <a:rPr lang="en-US"/>
            <a:t>Builds domestic expertise in cognitive EW systems, contributing to India's defense R&amp;D talent </a:t>
          </a:r>
          <a:r>
            <a:rPr lang="en-US" sz="1100">
              <a:latin typeface="Calibri"/>
            </a:rPr>
            <a:t>base</a:t>
          </a:r>
          <a:endParaRPr lang="en-US" sz="1800">
            <a:latin typeface="Calibri"/>
          </a:endParaRPr>
        </a:p>
      </dgm:t>
    </dgm:pt>
    <dgm:pt modelId="{FBCC2FAE-ACCE-4744-AB32-E4CA775C921F}" type="parTrans" cxnId="{F9C9F64F-B3F9-4043-90D8-9585AF095D68}">
      <dgm:prSet/>
      <dgm:spPr/>
    </dgm:pt>
    <dgm:pt modelId="{95475938-27EF-4F2F-9561-AB1E29E6F07E}" type="sibTrans" cxnId="{F9C9F64F-B3F9-4043-90D8-9585AF095D68}">
      <dgm:prSet/>
      <dgm:spPr/>
    </dgm:pt>
    <dgm:pt modelId="{2E23DD43-28C0-45E3-8B8F-293D892D9B4D}">
      <dgm:prSet phldrT="[Text]" phldr="0"/>
      <dgm:spPr/>
      <dgm:t>
        <a:bodyPr/>
        <a:lstStyle/>
        <a:p>
          <a:r>
            <a:rPr lang="en-US" sz="1100">
              <a:latin typeface="Calibri"/>
            </a:rPr>
            <a:t>Protects</a:t>
          </a:r>
          <a:r>
            <a:rPr lang="en-US" sz="1100" dirty="0">
              <a:latin typeface="Calibri"/>
            </a:rPr>
            <a:t> military personnel by closing the detection gap against modern agile-hopping threat radars</a:t>
          </a:r>
          <a:endParaRPr lang="en-US" dirty="0"/>
        </a:p>
      </dgm:t>
    </dgm:pt>
    <dgm:pt modelId="{027C3388-DD15-4611-870F-4A8E4180D21A}" type="parTrans" cxnId="{761BA8B5-1F63-47D8-A762-CAC765D6C854}">
      <dgm:prSet/>
      <dgm:spPr/>
    </dgm:pt>
    <dgm:pt modelId="{D8197F69-55A3-42D6-8374-1B76CAF0335A}" type="sibTrans" cxnId="{761BA8B5-1F63-47D8-A762-CAC765D6C854}">
      <dgm:prSet/>
      <dgm:spPr/>
    </dgm:pt>
    <dgm:pt modelId="{9FD53078-4093-4C18-84C1-A86B9BDA0FB3}">
      <dgm:prSet phldrT="[Text]" phldr="0"/>
      <dgm:spPr/>
      <dgm:t>
        <a:bodyPr/>
        <a:lstStyle/>
        <a:p>
          <a:r>
            <a:rPr lang="en-US">
              <a:latin typeface="Calibri"/>
            </a:rPr>
            <a:t>Efficient</a:t>
          </a:r>
          <a:r>
            <a:rPr lang="en-US"/>
            <a:t> sub-band scanning reduces unnecessary continuous wideband processing, lowering onboard power consumption during extended patrol/mission durations</a:t>
          </a:r>
        </a:p>
      </dgm:t>
    </dgm:pt>
    <dgm:pt modelId="{A8D30CA9-4CD7-4470-A7CF-9102E57CC23D}" type="parTrans" cxnId="{30002DA2-8488-42CC-AACA-443788851842}">
      <dgm:prSet/>
      <dgm:spPr/>
    </dgm:pt>
    <dgm:pt modelId="{5DF1EA0A-4F95-4DF8-BAA2-4D5EAEFE8320}" type="sibTrans" cxnId="{30002DA2-8488-42CC-AACA-443788851842}">
      <dgm:prSet/>
      <dgm:spPr/>
    </dgm:pt>
    <dgm:pt modelId="{7775DF20-5EE3-42E0-A280-B55271F16CD4}" type="pres">
      <dgm:prSet presAssocID="{7984F856-6D82-4272-A9B0-B2BD1A4F0412}" presName="Name0" presStyleCnt="0">
        <dgm:presLayoutVars>
          <dgm:dir/>
          <dgm:animLvl val="lvl"/>
          <dgm:resizeHandles val="exact"/>
        </dgm:presLayoutVars>
      </dgm:prSet>
      <dgm:spPr/>
    </dgm:pt>
    <dgm:pt modelId="{C6C84F1E-1A51-4E53-969E-6E6D5E8025D5}" type="pres">
      <dgm:prSet presAssocID="{CB731179-F2D7-487E-8171-D84321913AF5}" presName="composite" presStyleCnt="0"/>
      <dgm:spPr/>
    </dgm:pt>
    <dgm:pt modelId="{E33AB917-949A-4CE5-AA4C-E94084DADD84}" type="pres">
      <dgm:prSet presAssocID="{CB731179-F2D7-487E-8171-D84321913AF5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0CC419C2-4E50-4602-8B1E-2C81CCFFF665}" type="pres">
      <dgm:prSet presAssocID="{CB731179-F2D7-487E-8171-D84321913AF5}" presName="desTx" presStyleLbl="alignAccFollowNode1" presStyleIdx="0" presStyleCnt="3">
        <dgm:presLayoutVars>
          <dgm:bulletEnabled val="1"/>
        </dgm:presLayoutVars>
      </dgm:prSet>
      <dgm:spPr/>
    </dgm:pt>
    <dgm:pt modelId="{67FAE15A-51E0-4472-8F47-94E570501C64}" type="pres">
      <dgm:prSet presAssocID="{37EAE18D-A9F6-497B-A34F-7EF5AC16EE85}" presName="space" presStyleCnt="0"/>
      <dgm:spPr/>
    </dgm:pt>
    <dgm:pt modelId="{603411AB-FFA6-495A-93BA-84223495934B}" type="pres">
      <dgm:prSet presAssocID="{E0B0C203-06FE-4F71-ABAF-E5CA69C7337F}" presName="composite" presStyleCnt="0"/>
      <dgm:spPr/>
    </dgm:pt>
    <dgm:pt modelId="{D3BDB977-A6A4-4B8F-B5F4-582E894D9C1A}" type="pres">
      <dgm:prSet presAssocID="{E0B0C203-06FE-4F71-ABAF-E5CA69C7337F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783F5659-44D1-4401-9817-459CF0B41F4E}" type="pres">
      <dgm:prSet presAssocID="{E0B0C203-06FE-4F71-ABAF-E5CA69C7337F}" presName="desTx" presStyleLbl="alignAccFollowNode1" presStyleIdx="1" presStyleCnt="3">
        <dgm:presLayoutVars>
          <dgm:bulletEnabled val="1"/>
        </dgm:presLayoutVars>
      </dgm:prSet>
      <dgm:spPr/>
    </dgm:pt>
    <dgm:pt modelId="{BB1224A4-EB2A-41E3-82FC-7B291E54DB8D}" type="pres">
      <dgm:prSet presAssocID="{8BB49B9E-2E8F-4B22-81C0-61A209E55165}" presName="space" presStyleCnt="0"/>
      <dgm:spPr/>
    </dgm:pt>
    <dgm:pt modelId="{AA297F09-2783-40CB-BC3E-1EC2C1210581}" type="pres">
      <dgm:prSet presAssocID="{0B455233-A4AB-49AF-9A9D-272DCF3195CB}" presName="composite" presStyleCnt="0"/>
      <dgm:spPr/>
    </dgm:pt>
    <dgm:pt modelId="{5C340790-4DB2-40B9-9FC4-E497A7221D70}" type="pres">
      <dgm:prSet presAssocID="{0B455233-A4AB-49AF-9A9D-272DCF3195CB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FC2596F2-0A13-47E5-B182-A09BAE0FC676}" type="pres">
      <dgm:prSet presAssocID="{0B455233-A4AB-49AF-9A9D-272DCF3195CB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B27F9903-C256-497A-9DBA-289F231FBE0E}" srcId="{7984F856-6D82-4272-A9B0-B2BD1A4F0412}" destId="{0B455233-A4AB-49AF-9A9D-272DCF3195CB}" srcOrd="2" destOrd="0" parTransId="{9E91F9E6-90D8-4ABE-95A1-4069A6B3AC47}" sibTransId="{D0FAB242-CE1F-4B68-AFE5-42CA5DD95C61}"/>
    <dgm:cxn modelId="{24E11A2A-CDB3-4B43-834C-6D7F2A90C0D5}" type="presOf" srcId="{002C5CCB-FBAA-4785-B859-CA0E28D10896}" destId="{783F5659-44D1-4401-9817-459CF0B41F4E}" srcOrd="0" destOrd="0" presId="urn:microsoft.com/office/officeart/2005/8/layout/hList1"/>
    <dgm:cxn modelId="{7091C73B-1D4C-41C5-87E6-0D6DB7F35F9D}" srcId="{7984F856-6D82-4272-A9B0-B2BD1A4F0412}" destId="{E0B0C203-06FE-4F71-ABAF-E5CA69C7337F}" srcOrd="1" destOrd="0" parTransId="{BC97C272-6517-456B-9AC1-F5391C9FFD0F}" sibTransId="{8BB49B9E-2E8F-4B22-81C0-61A209E55165}"/>
    <dgm:cxn modelId="{A9821C68-7A97-4E93-B0F4-3C7441DBEE28}" srcId="{E0B0C203-06FE-4F71-ABAF-E5CA69C7337F}" destId="{ED82736A-68AE-4D7C-AECF-8414C442CD81}" srcOrd="1" destOrd="0" parTransId="{EB0DA5FF-EF43-416F-9D94-CCDC2C90B9AA}" sibTransId="{44B40EFE-E8FF-4873-BCCE-1EC73C7B2157}"/>
    <dgm:cxn modelId="{4331D948-98CA-4D31-A724-9D17CE0F6852}" type="presOf" srcId="{E0B0C203-06FE-4F71-ABAF-E5CA69C7337F}" destId="{D3BDB977-A6A4-4B8F-B5F4-582E894D9C1A}" srcOrd="0" destOrd="0" presId="urn:microsoft.com/office/officeart/2005/8/layout/hList1"/>
    <dgm:cxn modelId="{F9C9F64F-B3F9-4043-90D8-9585AF095D68}" srcId="{CB731179-F2D7-487E-8171-D84321913AF5}" destId="{3D2438C9-B94C-44DF-BAEA-BA53E983307B}" srcOrd="0" destOrd="0" parTransId="{FBCC2FAE-ACCE-4744-AB32-E4CA775C921F}" sibTransId="{95475938-27EF-4F2F-9561-AB1E29E6F07E}"/>
    <dgm:cxn modelId="{A49FC977-2A74-49D6-BB2B-2BD8F4B3AEA3}" type="presOf" srcId="{924C2BA3-2210-474D-9404-21F2DFD83D9F}" destId="{FC2596F2-0A13-47E5-B182-A09BAE0FC676}" srcOrd="0" destOrd="0" presId="urn:microsoft.com/office/officeart/2005/8/layout/hList1"/>
    <dgm:cxn modelId="{2B486658-31CE-4DFC-97AD-70520DECBC21}" type="presOf" srcId="{CB731179-F2D7-487E-8171-D84321913AF5}" destId="{E33AB917-949A-4CE5-AA4C-E94084DADD84}" srcOrd="0" destOrd="0" presId="urn:microsoft.com/office/officeart/2005/8/layout/hList1"/>
    <dgm:cxn modelId="{951B667F-9A1E-4EAF-8F25-3107E770907E}" srcId="{0B455233-A4AB-49AF-9A9D-272DCF3195CB}" destId="{924C2BA3-2210-474D-9404-21F2DFD83D9F}" srcOrd="0" destOrd="0" parTransId="{D72CEDF4-A5E7-494A-AF9D-5B2822E8AF9A}" sibTransId="{2D823A3E-68C1-475C-917E-AFF3E5457F7E}"/>
    <dgm:cxn modelId="{39ADDD83-8CA3-473B-BDC6-45A90A1E3695}" type="presOf" srcId="{3D2438C9-B94C-44DF-BAEA-BA53E983307B}" destId="{0CC419C2-4E50-4602-8B1E-2C81CCFFF665}" srcOrd="0" destOrd="0" presId="urn:microsoft.com/office/officeart/2005/8/layout/hList1"/>
    <dgm:cxn modelId="{B8FF958E-6E33-4AA4-9681-A8E266B43A7B}" type="presOf" srcId="{7984F856-6D82-4272-A9B0-B2BD1A4F0412}" destId="{7775DF20-5EE3-42E0-A280-B55271F16CD4}" srcOrd="0" destOrd="0" presId="urn:microsoft.com/office/officeart/2005/8/layout/hList1"/>
    <dgm:cxn modelId="{30002DA2-8488-42CC-AACA-443788851842}" srcId="{0B455233-A4AB-49AF-9A9D-272DCF3195CB}" destId="{9FD53078-4093-4C18-84C1-A86B9BDA0FB3}" srcOrd="1" destOrd="0" parTransId="{A8D30CA9-4CD7-4470-A7CF-9102E57CC23D}" sibTransId="{5DF1EA0A-4F95-4DF8-BAA2-4D5EAEFE8320}"/>
    <dgm:cxn modelId="{B715FCA9-7150-4AC0-B58A-1C1DA7DD9973}" type="presOf" srcId="{9FD53078-4093-4C18-84C1-A86B9BDA0FB3}" destId="{FC2596F2-0A13-47E5-B182-A09BAE0FC676}" srcOrd="0" destOrd="1" presId="urn:microsoft.com/office/officeart/2005/8/layout/hList1"/>
    <dgm:cxn modelId="{F69B73AB-5951-41FE-9BDF-7FA7F86DCBA9}" type="presOf" srcId="{2E23DD43-28C0-45E3-8B8F-293D892D9B4D}" destId="{0CC419C2-4E50-4602-8B1E-2C81CCFFF665}" srcOrd="0" destOrd="1" presId="urn:microsoft.com/office/officeart/2005/8/layout/hList1"/>
    <dgm:cxn modelId="{761BA8B5-1F63-47D8-A762-CAC765D6C854}" srcId="{CB731179-F2D7-487E-8171-D84321913AF5}" destId="{2E23DD43-28C0-45E3-8B8F-293D892D9B4D}" srcOrd="1" destOrd="0" parTransId="{027C3388-DD15-4611-870F-4A8E4180D21A}" sibTransId="{D8197F69-55A3-42D6-8374-1B76CAF0335A}"/>
    <dgm:cxn modelId="{C29F15BE-D339-40A4-B3FD-CE146825F554}" type="presOf" srcId="{0B455233-A4AB-49AF-9A9D-272DCF3195CB}" destId="{5C340790-4DB2-40B9-9FC4-E497A7221D70}" srcOrd="0" destOrd="0" presId="urn:microsoft.com/office/officeart/2005/8/layout/hList1"/>
    <dgm:cxn modelId="{54201CC7-1A06-45A7-BD40-CB8C72457807}" type="presOf" srcId="{ED82736A-68AE-4D7C-AECF-8414C442CD81}" destId="{783F5659-44D1-4401-9817-459CF0B41F4E}" srcOrd="0" destOrd="1" presId="urn:microsoft.com/office/officeart/2005/8/layout/hList1"/>
    <dgm:cxn modelId="{E776E3CC-B498-409A-9C33-7744BF15FD7B}" srcId="{E0B0C203-06FE-4F71-ABAF-E5CA69C7337F}" destId="{002C5CCB-FBAA-4785-B859-CA0E28D10896}" srcOrd="0" destOrd="0" parTransId="{F52677D5-9CB9-44E1-8BF7-B2EDE0849229}" sibTransId="{EDF4C2B1-4014-46AB-8935-674483B87E06}"/>
    <dgm:cxn modelId="{1B190ED5-E9F3-47A6-9DE1-F6F9ED0A9074}" srcId="{7984F856-6D82-4272-A9B0-B2BD1A4F0412}" destId="{CB731179-F2D7-487E-8171-D84321913AF5}" srcOrd="0" destOrd="0" parTransId="{8132134A-3393-48E8-A37D-F7F9E106D8D5}" sibTransId="{37EAE18D-A9F6-497B-A34F-7EF5AC16EE85}"/>
    <dgm:cxn modelId="{81C7202B-FB0F-4E7B-8E29-869C67DC0DAB}" type="presParOf" srcId="{7775DF20-5EE3-42E0-A280-B55271F16CD4}" destId="{C6C84F1E-1A51-4E53-969E-6E6D5E8025D5}" srcOrd="0" destOrd="0" presId="urn:microsoft.com/office/officeart/2005/8/layout/hList1"/>
    <dgm:cxn modelId="{398A5EEE-CF7C-4793-84B3-7EB740CEBAE6}" type="presParOf" srcId="{C6C84F1E-1A51-4E53-969E-6E6D5E8025D5}" destId="{E33AB917-949A-4CE5-AA4C-E94084DADD84}" srcOrd="0" destOrd="0" presId="urn:microsoft.com/office/officeart/2005/8/layout/hList1"/>
    <dgm:cxn modelId="{CF714932-837C-4C6B-8A29-E4F17A543561}" type="presParOf" srcId="{C6C84F1E-1A51-4E53-969E-6E6D5E8025D5}" destId="{0CC419C2-4E50-4602-8B1E-2C81CCFFF665}" srcOrd="1" destOrd="0" presId="urn:microsoft.com/office/officeart/2005/8/layout/hList1"/>
    <dgm:cxn modelId="{281065EE-5385-4BD7-8D25-9310A448154F}" type="presParOf" srcId="{7775DF20-5EE3-42E0-A280-B55271F16CD4}" destId="{67FAE15A-51E0-4472-8F47-94E570501C64}" srcOrd="1" destOrd="0" presId="urn:microsoft.com/office/officeart/2005/8/layout/hList1"/>
    <dgm:cxn modelId="{B9A303E4-B0E4-4650-920E-FF9C79ADA28E}" type="presParOf" srcId="{7775DF20-5EE3-42E0-A280-B55271F16CD4}" destId="{603411AB-FFA6-495A-93BA-84223495934B}" srcOrd="2" destOrd="0" presId="urn:microsoft.com/office/officeart/2005/8/layout/hList1"/>
    <dgm:cxn modelId="{C84F7E19-9AE4-4BA8-B6CE-8AA6C7828AFB}" type="presParOf" srcId="{603411AB-FFA6-495A-93BA-84223495934B}" destId="{D3BDB977-A6A4-4B8F-B5F4-582E894D9C1A}" srcOrd="0" destOrd="0" presId="urn:microsoft.com/office/officeart/2005/8/layout/hList1"/>
    <dgm:cxn modelId="{ADCD8A6C-5CE5-4D0A-A30D-895A62BFF4CD}" type="presParOf" srcId="{603411AB-FFA6-495A-93BA-84223495934B}" destId="{783F5659-44D1-4401-9817-459CF0B41F4E}" srcOrd="1" destOrd="0" presId="urn:microsoft.com/office/officeart/2005/8/layout/hList1"/>
    <dgm:cxn modelId="{9DFF83E7-77CC-4CFB-97D3-70F59E2088E9}" type="presParOf" srcId="{7775DF20-5EE3-42E0-A280-B55271F16CD4}" destId="{BB1224A4-EB2A-41E3-82FC-7B291E54DB8D}" srcOrd="3" destOrd="0" presId="urn:microsoft.com/office/officeart/2005/8/layout/hList1"/>
    <dgm:cxn modelId="{D296C01B-395F-44A9-B9DC-4AA876BE796B}" type="presParOf" srcId="{7775DF20-5EE3-42E0-A280-B55271F16CD4}" destId="{AA297F09-2783-40CB-BC3E-1EC2C1210581}" srcOrd="4" destOrd="0" presId="urn:microsoft.com/office/officeart/2005/8/layout/hList1"/>
    <dgm:cxn modelId="{FDE82124-96C4-4F0D-A8A0-4E04C4B629F5}" type="presParOf" srcId="{AA297F09-2783-40CB-BC3E-1EC2C1210581}" destId="{5C340790-4DB2-40B9-9FC4-E497A7221D70}" srcOrd="0" destOrd="0" presId="urn:microsoft.com/office/officeart/2005/8/layout/hList1"/>
    <dgm:cxn modelId="{29193797-6557-4998-B0B4-799A7745DF59}" type="presParOf" srcId="{AA297F09-2783-40CB-BC3E-1EC2C1210581}" destId="{FC2596F2-0A13-47E5-B182-A09BAE0FC676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6A4996-4764-40A8-8372-BB2E77647E1C}">
      <dsp:nvSpPr>
        <dsp:cNvPr id="0" name=""/>
        <dsp:cNvSpPr/>
      </dsp:nvSpPr>
      <dsp:spPr>
        <a:xfrm>
          <a:off x="3387" y="113946"/>
          <a:ext cx="3302973" cy="489600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>
              <a:latin typeface="Calibri"/>
            </a:rPr>
            <a:t>The Problem</a:t>
          </a:r>
        </a:p>
      </dsp:txBody>
      <dsp:txXfrm>
        <a:off x="3387" y="113946"/>
        <a:ext cx="3302973" cy="489600"/>
      </dsp:txXfrm>
    </dsp:sp>
    <dsp:sp modelId="{6B27FA7F-6B65-4A8C-9882-9C1FBA8E0C7E}">
      <dsp:nvSpPr>
        <dsp:cNvPr id="0" name=""/>
        <dsp:cNvSpPr/>
      </dsp:nvSpPr>
      <dsp:spPr>
        <a:xfrm>
          <a:off x="3387" y="603546"/>
          <a:ext cx="3302973" cy="3975274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Monitoring 0.5-18.0 GHz spectrum via 500 MHz IBW across 35 discrete channels against agile radars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Literature ignores LO settling blind time (15-50 us), dropping pulses during hops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Standard AI models suffer catastrophic forgetting under chaotic adversarial agility</a:t>
          </a:r>
        </a:p>
      </dsp:txBody>
      <dsp:txXfrm>
        <a:off x="3387" y="603546"/>
        <a:ext cx="3302973" cy="3975274"/>
      </dsp:txXfrm>
    </dsp:sp>
    <dsp:sp modelId="{836E2460-6FE7-44D1-A0D0-F678F1B52DF3}">
      <dsp:nvSpPr>
        <dsp:cNvPr id="0" name=""/>
        <dsp:cNvSpPr/>
      </dsp:nvSpPr>
      <dsp:spPr>
        <a:xfrm>
          <a:off x="3768776" y="113946"/>
          <a:ext cx="3302973" cy="489600"/>
        </a:xfrm>
        <a:prstGeom prst="rect">
          <a:avLst/>
        </a:prstGeom>
        <a:solidFill>
          <a:schemeClr val="accent5">
            <a:hueOff val="-4966938"/>
            <a:satOff val="19906"/>
            <a:lumOff val="4314"/>
            <a:alphaOff val="0"/>
          </a:schemeClr>
        </a:solidFill>
        <a:ln w="25400" cap="flat" cmpd="sng" algn="ctr">
          <a:solidFill>
            <a:schemeClr val="accent5">
              <a:hueOff val="-4966938"/>
              <a:satOff val="19906"/>
              <a:lumOff val="431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>
              <a:latin typeface="Calibri"/>
            </a:rPr>
            <a:t>Our Solution</a:t>
          </a:r>
        </a:p>
      </dsp:txBody>
      <dsp:txXfrm>
        <a:off x="3768776" y="113946"/>
        <a:ext cx="3302973" cy="489600"/>
      </dsp:txXfrm>
    </dsp:sp>
    <dsp:sp modelId="{3D328641-4296-4AE0-A52D-A7223ADE5593}">
      <dsp:nvSpPr>
        <dsp:cNvPr id="0" name=""/>
        <dsp:cNvSpPr/>
      </dsp:nvSpPr>
      <dsp:spPr>
        <a:xfrm>
          <a:off x="3768776" y="603546"/>
          <a:ext cx="3302973" cy="3975274"/>
        </a:xfrm>
        <a:prstGeom prst="rect">
          <a:avLst/>
        </a:prstGeom>
        <a:solidFill>
          <a:schemeClr val="accent5">
            <a:tint val="40000"/>
            <a:alpha val="90000"/>
            <a:hueOff val="-5370241"/>
            <a:satOff val="24126"/>
            <a:lumOff val="1658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-5370241"/>
              <a:satOff val="24126"/>
              <a:lumOff val="16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Dual-engine scan strategy dynamically allocates 500 MHz receiver dwells across 35 sub-bands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Engine A (DQN with PER) predicts structured radar patterns to maximize intercept in 2-10 </a:t>
          </a:r>
          <a:r>
            <a:rPr lang="en-US" sz="1700" kern="1200" err="1">
              <a:latin typeface="Calibri"/>
            </a:rPr>
            <a:t>ms</a:t>
          </a:r>
          <a:r>
            <a:rPr lang="en-US" sz="1700" kern="1200">
              <a:latin typeface="Calibri"/>
            </a:rPr>
            <a:t> dwells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Engine B (Exp3 Bandit) bounds worst-case regret to catch chaotic pseudo-random frequency hops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Hysteresis dispatcher transitions between DQN and Exp3 without decision thrashing</a:t>
          </a:r>
        </a:p>
      </dsp:txBody>
      <dsp:txXfrm>
        <a:off x="3768776" y="603546"/>
        <a:ext cx="3302973" cy="3975274"/>
      </dsp:txXfrm>
    </dsp:sp>
    <dsp:sp modelId="{45C27D7D-7CE6-4962-8748-5187366A1908}">
      <dsp:nvSpPr>
        <dsp:cNvPr id="0" name=""/>
        <dsp:cNvSpPr/>
      </dsp:nvSpPr>
      <dsp:spPr>
        <a:xfrm>
          <a:off x="7534166" y="113946"/>
          <a:ext cx="3302973" cy="489600"/>
        </a:xfrm>
        <a:prstGeom prst="rect">
          <a:avLst/>
        </a:prstGeom>
        <a:solidFill>
          <a:schemeClr val="accent5">
            <a:hueOff val="-9933876"/>
            <a:satOff val="39811"/>
            <a:lumOff val="8628"/>
            <a:alphaOff val="0"/>
          </a:schemeClr>
        </a:solidFill>
        <a:ln w="25400" cap="flat" cmpd="sng" algn="ctr">
          <a:solidFill>
            <a:schemeClr val="accent5">
              <a:hueOff val="-9933876"/>
              <a:satOff val="39811"/>
              <a:lumOff val="862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69088" rIns="120904" bIns="69088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>
              <a:latin typeface="Calibri"/>
            </a:rPr>
            <a:t>Our Uniqueness</a:t>
          </a:r>
        </a:p>
      </dsp:txBody>
      <dsp:txXfrm>
        <a:off x="7534166" y="113946"/>
        <a:ext cx="3302973" cy="489600"/>
      </dsp:txXfrm>
    </dsp:sp>
    <dsp:sp modelId="{7FB718D9-4761-4ADA-AD3A-38DDDA6BFA81}">
      <dsp:nvSpPr>
        <dsp:cNvPr id="0" name=""/>
        <dsp:cNvSpPr/>
      </dsp:nvSpPr>
      <dsp:spPr>
        <a:xfrm>
          <a:off x="7534166" y="603546"/>
          <a:ext cx="3302973" cy="3975274"/>
        </a:xfrm>
        <a:prstGeom prst="rect">
          <a:avLst/>
        </a:prstGeom>
        <a:solidFill>
          <a:schemeClr val="accent5">
            <a:tint val="40000"/>
            <a:alpha val="90000"/>
            <a:hueOff val="-10740482"/>
            <a:satOff val="48253"/>
            <a:lumOff val="3317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678" tIns="90678" rIns="120904" bIns="136017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Hardware-aware loss directly penalizes LO slew latency (15 us + 2 us/GHz) in the control loop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Threat-weighted utility prioritizes low-duty lethal missile locks over dense civil radar signals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Edge-optimized design (&lt;15k params) projected for sub-10 us inference on embedded FPGA SoCs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>
              <a:latin typeface="Calibri"/>
            </a:rPr>
            <a:t>Convex starvation barrier forces unvisited channel revisits before threat deadlines expire</a:t>
          </a:r>
        </a:p>
      </dsp:txBody>
      <dsp:txXfrm>
        <a:off x="7534166" y="603546"/>
        <a:ext cx="3302973" cy="39752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8D388E-7A6E-45A4-9828-5590E0E78A67}">
      <dsp:nvSpPr>
        <dsp:cNvPr id="0" name=""/>
        <dsp:cNvSpPr/>
      </dsp:nvSpPr>
      <dsp:spPr>
        <a:xfrm>
          <a:off x="0" y="47097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>
              <a:ea typeface="+mn-ea"/>
              <a:cs typeface="+mn-cs"/>
            </a:rPr>
            <a:t>Core Language:</a:t>
          </a:r>
          <a:r>
            <a:rPr lang="en-US" sz="800" kern="1200">
              <a:ea typeface="+mn-ea"/>
              <a:cs typeface="+mn-cs"/>
            </a:rPr>
            <a:t> Python 3.12 (100% Native, Air-Gapped, Zero Cloud Dependencies) </a:t>
          </a:r>
          <a:br>
            <a:rPr lang="en-US" sz="800" kern="1200" dirty="0">
              <a:ea typeface="+mn-ea"/>
              <a:cs typeface="+mn-cs"/>
            </a:rPr>
          </a:br>
          <a:endParaRPr lang="en-US" sz="800" kern="1200" dirty="0">
            <a:ea typeface="+mn-ea"/>
            <a:cs typeface="+mn-cs"/>
          </a:endParaRPr>
        </a:p>
      </dsp:txBody>
      <dsp:txXfrm>
        <a:off x="27515" y="74612"/>
        <a:ext cx="1986556" cy="508617"/>
      </dsp:txXfrm>
    </dsp:sp>
    <dsp:sp modelId="{4B6A21A6-F607-4BE0-9EB5-74D79346FE82}">
      <dsp:nvSpPr>
        <dsp:cNvPr id="0" name=""/>
        <dsp:cNvSpPr/>
      </dsp:nvSpPr>
      <dsp:spPr>
        <a:xfrm>
          <a:off x="0" y="633785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 dirty="0">
              <a:ea typeface="+mn-ea"/>
              <a:cs typeface="+mn-cs"/>
            </a:rPr>
            <a:t>Deep Reinforcement Learning:</a:t>
          </a:r>
          <a:r>
            <a:rPr lang="en-US" sz="800" kern="1200" dirty="0">
              <a:ea typeface="+mn-ea"/>
              <a:cs typeface="+mn-cs"/>
            </a:rPr>
            <a:t> </a:t>
          </a:r>
          <a:r>
            <a:rPr lang="en-US" sz="800" kern="1200" dirty="0" err="1">
              <a:ea typeface="+mn-ea"/>
              <a:cs typeface="+mn-cs"/>
            </a:rPr>
            <a:t>PyTorch</a:t>
          </a:r>
          <a:r>
            <a:rPr lang="en-US" sz="800" kern="1200" dirty="0">
              <a:ea typeface="+mn-ea"/>
              <a:cs typeface="+mn-cs"/>
            </a:rPr>
            <a:t> (DQN with Prioritized Experience Replay &amp; INT8 Quantization) </a:t>
          </a:r>
          <a:br>
            <a:rPr lang="en-US" sz="800" kern="1200" dirty="0">
              <a:ea typeface="+mn-ea"/>
              <a:cs typeface="+mn-cs"/>
            </a:rPr>
          </a:br>
          <a:endParaRPr lang="en-US" sz="800" kern="1200" dirty="0">
            <a:ea typeface="+mn-ea"/>
            <a:cs typeface="+mn-cs"/>
          </a:endParaRPr>
        </a:p>
      </dsp:txBody>
      <dsp:txXfrm>
        <a:off x="27515" y="661300"/>
        <a:ext cx="1986556" cy="508617"/>
      </dsp:txXfrm>
    </dsp:sp>
    <dsp:sp modelId="{CCFD8E81-4D8E-476E-90E5-63A8FABC0997}">
      <dsp:nvSpPr>
        <dsp:cNvPr id="0" name=""/>
        <dsp:cNvSpPr/>
      </dsp:nvSpPr>
      <dsp:spPr>
        <a:xfrm>
          <a:off x="0" y="1220472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>
              <a:ea typeface="+mn-ea"/>
              <a:cs typeface="+mn-cs"/>
            </a:rPr>
            <a:t>Adversarial Bandit Framework:</a:t>
          </a:r>
          <a:r>
            <a:rPr lang="en-US" sz="800" kern="1200">
              <a:ea typeface="+mn-ea"/>
              <a:cs typeface="+mn-cs"/>
            </a:rPr>
            <a:t> NumPy &amp; SciPy (Vectorized Exp3 Regret-Minimization Engine) </a:t>
          </a:r>
          <a:br>
            <a:rPr lang="en-US" sz="800" kern="1200" dirty="0">
              <a:ea typeface="+mn-ea"/>
              <a:cs typeface="+mn-cs"/>
            </a:rPr>
          </a:br>
          <a:endParaRPr lang="en-US" sz="800" kern="1200" dirty="0">
            <a:ea typeface="+mn-ea"/>
            <a:cs typeface="+mn-cs"/>
          </a:endParaRPr>
        </a:p>
      </dsp:txBody>
      <dsp:txXfrm>
        <a:off x="27515" y="1247987"/>
        <a:ext cx="1986556" cy="508617"/>
      </dsp:txXfrm>
    </dsp:sp>
    <dsp:sp modelId="{F44B53CC-5E4F-4E2F-A872-094B4E5CF75E}">
      <dsp:nvSpPr>
        <dsp:cNvPr id="0" name=""/>
        <dsp:cNvSpPr/>
      </dsp:nvSpPr>
      <dsp:spPr>
        <a:xfrm>
          <a:off x="0" y="1807160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>
              <a:ea typeface="+mn-ea"/>
              <a:cs typeface="+mn-cs"/>
            </a:rPr>
            <a:t>Environment &amp; Simulation:</a:t>
          </a:r>
          <a:r>
            <a:rPr lang="en-US" sz="800" kern="1200">
              <a:ea typeface="+mn-ea"/>
              <a:cs typeface="+mn-cs"/>
            </a:rPr>
            <a:t> Gymnasium (Discrete-Event RF Dwell &amp; Blind-Time Simulation) </a:t>
          </a:r>
          <a:br>
            <a:rPr lang="en-US" sz="800" kern="1200" dirty="0">
              <a:ea typeface="+mn-ea"/>
              <a:cs typeface="+mn-cs"/>
            </a:rPr>
          </a:br>
          <a:endParaRPr lang="en-US" sz="800" kern="1200" dirty="0">
            <a:ea typeface="+mn-ea"/>
            <a:cs typeface="+mn-cs"/>
          </a:endParaRPr>
        </a:p>
      </dsp:txBody>
      <dsp:txXfrm>
        <a:off x="27515" y="1834675"/>
        <a:ext cx="1986556" cy="508617"/>
      </dsp:txXfrm>
    </dsp:sp>
    <dsp:sp modelId="{988C892B-CF51-45FF-B48C-FE9B6359D22F}">
      <dsp:nvSpPr>
        <dsp:cNvPr id="0" name=""/>
        <dsp:cNvSpPr/>
      </dsp:nvSpPr>
      <dsp:spPr>
        <a:xfrm>
          <a:off x="0" y="2393848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>
              <a:ea typeface="+mn-ea"/>
              <a:cs typeface="+mn-cs"/>
            </a:rPr>
            <a:t>PDW Ingestion &amp; Parsing:</a:t>
          </a:r>
          <a:r>
            <a:rPr lang="en-US" sz="800" kern="1200">
              <a:ea typeface="+mn-ea"/>
              <a:cs typeface="+mn-cs"/>
            </a:rPr>
            <a:t> H5py &amp; Pandas (TSRD 5D Radar Stream I/O) </a:t>
          </a:r>
          <a:br>
            <a:rPr lang="en-US" sz="800" kern="1200" dirty="0">
              <a:ea typeface="+mn-ea"/>
              <a:cs typeface="+mn-cs"/>
            </a:rPr>
          </a:br>
          <a:endParaRPr lang="en-US" sz="800" kern="1200" dirty="0">
            <a:ea typeface="+mn-ea"/>
            <a:cs typeface="+mn-cs"/>
          </a:endParaRPr>
        </a:p>
      </dsp:txBody>
      <dsp:txXfrm>
        <a:off x="27515" y="2421363"/>
        <a:ext cx="1986556" cy="508617"/>
      </dsp:txXfrm>
    </dsp:sp>
    <dsp:sp modelId="{BEE4F667-97C9-45A1-8AC5-7C0A978311F4}">
      <dsp:nvSpPr>
        <dsp:cNvPr id="0" name=""/>
        <dsp:cNvSpPr/>
      </dsp:nvSpPr>
      <dsp:spPr>
        <a:xfrm>
          <a:off x="0" y="2980535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 dirty="0">
              <a:ea typeface="+mn-ea"/>
              <a:cs typeface="+mn-cs"/>
            </a:rPr>
            <a:t>De-Interleaving Algorithm:</a:t>
          </a:r>
          <a:r>
            <a:rPr lang="en-US" sz="800" kern="1200" dirty="0">
              <a:ea typeface="+mn-ea"/>
              <a:cs typeface="+mn-cs"/>
            </a:rPr>
            <a:t> Streaming Sequential Difference </a:t>
          </a:r>
          <a:r>
            <a:rPr lang="en-US" sz="800" kern="1200" dirty="0" err="1">
              <a:ea typeface="+mn-ea"/>
              <a:cs typeface="+mn-cs"/>
            </a:rPr>
            <a:t>Histogramming</a:t>
          </a:r>
          <a:r>
            <a:rPr lang="en-US" sz="800" kern="1200" dirty="0">
              <a:ea typeface="+mn-ea"/>
              <a:cs typeface="+mn-cs"/>
            </a:rPr>
            <a:t> (SDIF Lineage) </a:t>
          </a:r>
          <a:br>
            <a:rPr lang="en-US" sz="800" kern="1200" dirty="0">
              <a:ea typeface="+mn-ea"/>
              <a:cs typeface="+mn-cs"/>
            </a:rPr>
          </a:br>
          <a:endParaRPr lang="en-US" sz="800" kern="1200" dirty="0">
            <a:ea typeface="+mn-ea"/>
            <a:cs typeface="+mn-cs"/>
          </a:endParaRPr>
        </a:p>
      </dsp:txBody>
      <dsp:txXfrm>
        <a:off x="27515" y="3008050"/>
        <a:ext cx="1986556" cy="508617"/>
      </dsp:txXfrm>
    </dsp:sp>
    <dsp:sp modelId="{D637B427-260A-493E-97B3-79064D625C14}">
      <dsp:nvSpPr>
        <dsp:cNvPr id="0" name=""/>
        <dsp:cNvSpPr/>
      </dsp:nvSpPr>
      <dsp:spPr>
        <a:xfrm>
          <a:off x="0" y="3567223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>
              <a:ea typeface="+mn-ea"/>
              <a:cs typeface="+mn-cs"/>
            </a:rPr>
            <a:t>Synthesizer Latency Models:</a:t>
          </a:r>
          <a:r>
            <a:rPr lang="en-US" sz="800" kern="1200">
              <a:ea typeface="+mn-ea"/>
              <a:cs typeface="+mn-cs"/>
            </a:rPr>
            <a:t> Analog Devices ADF4371 &amp; Texas Instruments LMX2594 PLL Specifications </a:t>
          </a:r>
          <a:br>
            <a:rPr lang="en-US" sz="800" kern="1200" dirty="0">
              <a:ea typeface="+mn-ea"/>
              <a:cs typeface="+mn-cs"/>
            </a:rPr>
          </a:br>
          <a:endParaRPr lang="en-US" sz="800" kern="1200" dirty="0">
            <a:ea typeface="+mn-ea"/>
            <a:cs typeface="+mn-cs"/>
          </a:endParaRPr>
        </a:p>
      </dsp:txBody>
      <dsp:txXfrm>
        <a:off x="27515" y="3594738"/>
        <a:ext cx="1986556" cy="508617"/>
      </dsp:txXfrm>
    </dsp:sp>
    <dsp:sp modelId="{1BBB3159-AA1D-43EB-B993-1C3F9B8B6DFF}">
      <dsp:nvSpPr>
        <dsp:cNvPr id="0" name=""/>
        <dsp:cNvSpPr/>
      </dsp:nvSpPr>
      <dsp:spPr>
        <a:xfrm>
          <a:off x="0" y="4153910"/>
          <a:ext cx="2041586" cy="56364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b="0" kern="1200" dirty="0">
              <a:ea typeface="+mn-ea"/>
              <a:cs typeface="+mn-cs"/>
            </a:rPr>
            <a:t>Target Embedded Hardware:</a:t>
          </a:r>
          <a:r>
            <a:rPr lang="en-US" sz="800" kern="1200" dirty="0">
              <a:ea typeface="+mn-ea"/>
              <a:cs typeface="+mn-cs"/>
            </a:rPr>
            <a:t> AMD/Xilinx Zynq </a:t>
          </a:r>
          <a:r>
            <a:rPr lang="en-US" sz="800" kern="1200" dirty="0" err="1">
              <a:ea typeface="+mn-ea"/>
              <a:cs typeface="+mn-cs"/>
            </a:rPr>
            <a:t>UltraScale</a:t>
          </a:r>
          <a:r>
            <a:rPr lang="en-US" sz="800" kern="1200" dirty="0">
              <a:ea typeface="+mn-ea"/>
              <a:cs typeface="+mn-cs"/>
            </a:rPr>
            <a:t>+ </a:t>
          </a:r>
          <a:r>
            <a:rPr lang="en-US" sz="800" kern="1200" dirty="0" err="1">
              <a:ea typeface="+mn-ea"/>
              <a:cs typeface="+mn-cs"/>
            </a:rPr>
            <a:t>RFSoC</a:t>
          </a:r>
          <a:r>
            <a:rPr lang="en-US" sz="800" kern="1200" dirty="0">
              <a:ea typeface="+mn-ea"/>
              <a:cs typeface="+mn-cs"/>
            </a:rPr>
            <a:t> / NVIDIA Jetson Orin Nano </a:t>
          </a:r>
        </a:p>
      </dsp:txBody>
      <dsp:txXfrm>
        <a:off x="27515" y="4181425"/>
        <a:ext cx="1986556" cy="5086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3AB917-949A-4CE5-AA4C-E94084DADD84}">
      <dsp:nvSpPr>
        <dsp:cNvPr id="0" name=""/>
        <dsp:cNvSpPr/>
      </dsp:nvSpPr>
      <dsp:spPr>
        <a:xfrm>
          <a:off x="2484" y="54692"/>
          <a:ext cx="2422472" cy="50928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l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i="1" kern="1200"/>
            <a:t>Social</a:t>
          </a:r>
          <a:endParaRPr lang="en-US" sz="1400" kern="1200">
            <a:latin typeface="Calibri"/>
          </a:endParaRPr>
        </a:p>
      </dsp:txBody>
      <dsp:txXfrm>
        <a:off x="2484" y="54692"/>
        <a:ext cx="2422472" cy="509285"/>
      </dsp:txXfrm>
    </dsp:sp>
    <dsp:sp modelId="{0CC419C2-4E50-4602-8B1E-2C81CCFFF665}">
      <dsp:nvSpPr>
        <dsp:cNvPr id="0" name=""/>
        <dsp:cNvSpPr/>
      </dsp:nvSpPr>
      <dsp:spPr>
        <a:xfrm>
          <a:off x="2484" y="563978"/>
          <a:ext cx="2422472" cy="276575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Builds domestic expertise in cognitive EW systems, contributing to India's defense R&amp;D talent </a:t>
          </a:r>
          <a:r>
            <a:rPr lang="en-US" sz="1400" kern="1200">
              <a:latin typeface="Calibri"/>
            </a:rPr>
            <a:t>base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latin typeface="Calibri"/>
            </a:rPr>
            <a:t>Protects</a:t>
          </a:r>
          <a:r>
            <a:rPr lang="en-US" sz="1400" kern="1200" dirty="0">
              <a:latin typeface="Calibri"/>
            </a:rPr>
            <a:t> military personnel by closing the detection gap against modern agile-hopping threat radars</a:t>
          </a:r>
          <a:endParaRPr lang="en-US" sz="1400" kern="1200" dirty="0"/>
        </a:p>
      </dsp:txBody>
      <dsp:txXfrm>
        <a:off x="2484" y="563978"/>
        <a:ext cx="2422472" cy="2765759"/>
      </dsp:txXfrm>
    </dsp:sp>
    <dsp:sp modelId="{D3BDB977-A6A4-4B8F-B5F4-582E894D9C1A}">
      <dsp:nvSpPr>
        <dsp:cNvPr id="0" name=""/>
        <dsp:cNvSpPr/>
      </dsp:nvSpPr>
      <dsp:spPr>
        <a:xfrm>
          <a:off x="2764103" y="54692"/>
          <a:ext cx="2422472" cy="50928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Economic</a:t>
          </a:r>
        </a:p>
      </dsp:txBody>
      <dsp:txXfrm>
        <a:off x="2764103" y="54692"/>
        <a:ext cx="2422472" cy="509285"/>
      </dsp:txXfrm>
    </dsp:sp>
    <dsp:sp modelId="{783F5659-44D1-4401-9817-459CF0B41F4E}">
      <dsp:nvSpPr>
        <dsp:cNvPr id="0" name=""/>
        <dsp:cNvSpPr/>
      </dsp:nvSpPr>
      <dsp:spPr>
        <a:xfrm>
          <a:off x="2764103" y="563978"/>
          <a:ext cx="2422472" cy="2765759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Lowers dependency on costly foreign-sourced ESM technology, supporting indigenous defense manufacturing (Atmanirbhar Bharat in defense electronics)</a:t>
          </a:r>
        </a:p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/>
            <a:t>Software-defined intelligence layered on existing hardware reduces the need for expensive receiver redesigns or additional RF front-end hardware</a:t>
          </a:r>
        </a:p>
      </dsp:txBody>
      <dsp:txXfrm>
        <a:off x="2764103" y="563978"/>
        <a:ext cx="2422472" cy="2765759"/>
      </dsp:txXfrm>
    </dsp:sp>
    <dsp:sp modelId="{5C340790-4DB2-40B9-9FC4-E497A7221D70}">
      <dsp:nvSpPr>
        <dsp:cNvPr id="0" name=""/>
        <dsp:cNvSpPr/>
      </dsp:nvSpPr>
      <dsp:spPr>
        <a:xfrm>
          <a:off x="5525721" y="54692"/>
          <a:ext cx="2422472" cy="50928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56896" rIns="99568" bIns="56896" numCol="1" spcCol="1270" anchor="ctr" anchorCtr="0">
          <a:noAutofit/>
        </a:bodyPr>
        <a:lstStyle/>
        <a:p>
          <a:pPr marL="0" lvl="0" indent="0" algn="ctr" defTabSz="6223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Environmental / Operational Efficiency</a:t>
          </a:r>
        </a:p>
      </dsp:txBody>
      <dsp:txXfrm>
        <a:off x="5525721" y="54692"/>
        <a:ext cx="2422472" cy="509285"/>
      </dsp:txXfrm>
    </dsp:sp>
    <dsp:sp modelId="{FC2596F2-0A13-47E5-B182-A09BAE0FC676}">
      <dsp:nvSpPr>
        <dsp:cNvPr id="0" name=""/>
        <dsp:cNvSpPr/>
      </dsp:nvSpPr>
      <dsp:spPr>
        <a:xfrm>
          <a:off x="5525721" y="563978"/>
          <a:ext cx="2422472" cy="2765759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4676" tIns="74676" rIns="99568" bIns="112014" numCol="1" spcCol="1270" anchor="t" anchorCtr="0">
          <a:noAutofit/>
        </a:bodyPr>
        <a:lstStyle/>
        <a:p>
          <a:pPr marL="114300" lvl="1" indent="-114300" algn="l" defTabSz="6223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 err="1"/>
            <a:t>SWaP</a:t>
          </a:r>
          <a:r>
            <a:rPr lang="en-US" sz="1400" kern="1200" dirty="0"/>
            <a:t>-C-aware design (Size, Weight, Power, Cost) avoids the extra power draw and thermal load of full-spectrum simultaneous </a:t>
          </a:r>
          <a:r>
            <a:rPr lang="en-US" sz="1400" kern="1200" dirty="0">
              <a:latin typeface="Calibri"/>
            </a:rPr>
            <a:t>digitization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>
              <a:latin typeface="Calibri"/>
            </a:rPr>
            <a:t>Efficient</a:t>
          </a:r>
          <a:r>
            <a:rPr lang="en-US" sz="1400" kern="1200"/>
            <a:t> sub-band scanning reduces unnecessary continuous wideband processing, lowering onboard power consumption during extended patrol/mission durations</a:t>
          </a:r>
        </a:p>
      </dsp:txBody>
      <dsp:txXfrm>
        <a:off x="5525721" y="563978"/>
        <a:ext cx="2422472" cy="27657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#1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43B02-16D1-CEDB-CB00-E7D152EF9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>
            <a:extLst>
              <a:ext uri="{FF2B5EF4-FFF2-40B4-BE49-F238E27FC236}">
                <a16:creationId xmlns:a16="http://schemas.microsoft.com/office/drawing/2014/main" id="{8695DB6B-5657-C23A-AA88-AFE038504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>
            <a:extLst>
              <a:ext uri="{FF2B5EF4-FFF2-40B4-BE49-F238E27FC236}">
                <a16:creationId xmlns:a16="http://schemas.microsoft.com/office/drawing/2014/main" id="{2009C588-454B-8CCB-254A-9B5CAE58E138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>
            <a:extLst>
              <a:ext uri="{FF2B5EF4-FFF2-40B4-BE49-F238E27FC236}">
                <a16:creationId xmlns:a16="http://schemas.microsoft.com/office/drawing/2014/main" id="{83D85C56-FB46-7E8F-8024-94D438BD9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197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AF603-7B09-87D3-EA07-D08E88AB7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55BC47A6-5D5D-4700-95BE-02A6C7380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904F39A1-0F93-ABA2-3366-68FC5500C0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138E66BD-895B-505B-B78C-886E71A41B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6012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038/nature14236" TargetMode="External"/><Relationship Id="rId13" Type="http://schemas.openxmlformats.org/officeDocument/2006/relationships/image" Target="../media/image2.png"/><Relationship Id="rId3" Type="http://schemas.openxmlformats.org/officeDocument/2006/relationships/hyperlink" Target="https://arxiv.org/abs/2602.03856" TargetMode="External"/><Relationship Id="rId7" Type="http://schemas.openxmlformats.org/officeDocument/2006/relationships/hyperlink" Target="https://doi.org/10.1049/ip-f-2.1992.0012" TargetMode="External"/><Relationship Id="rId12" Type="http://schemas.openxmlformats.org/officeDocument/2006/relationships/hyperlink" Target="https://www.ti.com/lit/ds/symlink/lmx2594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i.org/10.1049/ip-f-2.1989.0025" TargetMode="External"/><Relationship Id="rId11" Type="http://schemas.openxmlformats.org/officeDocument/2006/relationships/hyperlink" Target="https://www.analog.com/media/en/technical-documentation/data-sheets/adf4371.pdf" TargetMode="External"/><Relationship Id="rId5" Type="http://schemas.openxmlformats.org/officeDocument/2006/relationships/hyperlink" Target="https://doi.org/10.1049/ip-f-1.1982.0025" TargetMode="External"/><Relationship Id="rId10" Type="http://schemas.openxmlformats.org/officeDocument/2006/relationships/hyperlink" Target="https://doi.org/10.1137/S0097539701398375" TargetMode="External"/><Relationship Id="rId4" Type="http://schemas.openxmlformats.org/officeDocument/2006/relationships/hyperlink" Target="https://huggingface.co/datasets/alan-turing-institute/turing-synthetic-radar-dataset" TargetMode="External"/><Relationship Id="rId9" Type="http://schemas.openxmlformats.org/officeDocument/2006/relationships/hyperlink" Target="https://arxiv.org/abs/1511.05952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11100398" cy="468666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endParaRPr lang="en-US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/>
                <a:ea typeface="ＭＳ Ｐゴシック"/>
                <a:cs typeface="Arial"/>
              </a:rPr>
              <a:t>Problem Statement ID – </a:t>
            </a:r>
            <a:r>
              <a:rPr lang="en-US" sz="2400" b="1">
                <a:latin typeface="Calibri"/>
                <a:ea typeface="Calibri"/>
                <a:cs typeface="Calibri"/>
              </a:rPr>
              <a:t>SIH26055</a:t>
            </a:r>
            <a:r>
              <a:rPr lang="en-US" sz="2400" dirty="0">
                <a:latin typeface="Calibri"/>
                <a:ea typeface="Calibri"/>
                <a:cs typeface="Calibri"/>
              </a:rPr>
              <a:t>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/>
                <a:ea typeface="ＭＳ Ｐゴシック"/>
                <a:cs typeface="Arial"/>
              </a:rPr>
              <a:t>Problem Statement Title- </a:t>
            </a:r>
            <a:r>
              <a:rPr lang="en-US" sz="2400" b="1">
                <a:latin typeface="Calibri"/>
                <a:ea typeface="Calibri"/>
                <a:cs typeface="Calibri"/>
              </a:rPr>
              <a:t>Smart Scan strategy for Electronic Warfare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/>
                <a:ea typeface="ＭＳ Ｐゴシック"/>
                <a:cs typeface="Arial"/>
              </a:rPr>
              <a:t>Theme- </a:t>
            </a:r>
            <a:r>
              <a:rPr lang="en-US" sz="2400" b="1">
                <a:latin typeface="Calibri"/>
                <a:ea typeface="Calibri"/>
                <a:cs typeface="Calibri"/>
              </a:rPr>
              <a:t>Robotics and Drones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/>
                <a:ea typeface="ＭＳ Ｐゴシック"/>
                <a:cs typeface="Arial"/>
              </a:rPr>
              <a:t>PS Category- Software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/>
                <a:ea typeface="ＭＳ Ｐゴシック"/>
                <a:cs typeface="Arial"/>
              </a:rPr>
              <a:t>Team ID- SIH26-A0H-T359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>
                <a:latin typeface="Arial"/>
                <a:ea typeface="ＭＳ Ｐゴシック"/>
                <a:cs typeface="Arial"/>
              </a:rPr>
              <a:t>Team Name – Half Squadron</a:t>
            </a:r>
            <a:endParaRPr lang="en-IN" sz="2400" b="1">
              <a:latin typeface="Arial"/>
              <a:ea typeface="ＭＳ Ｐゴシック"/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8270A-9E5E-AFFA-1390-66EDF9883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3E9FCB3-03E1-7198-A5E5-B57CF11FB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>
            <a:extLst>
              <a:ext uri="{FF2B5EF4-FFF2-40B4-BE49-F238E27FC236}">
                <a16:creationId xmlns:a16="http://schemas.microsoft.com/office/drawing/2014/main" id="{CF9A5799-8796-DF86-E998-62A1946D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29FAC-DF4F-83CA-93B0-E9B14C771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AA31CDD-BCF8-CEF9-C236-007238FE9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07CF1B-BD8D-3E51-A556-A4FFF722D3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9766" y="1500"/>
            <a:ext cx="2249850" cy="1062337"/>
          </a:xfrm>
          <a:prstGeom prst="rect">
            <a:avLst/>
          </a:prstGeom>
        </p:spPr>
      </p:pic>
      <p:graphicFrame>
        <p:nvGraphicFramePr>
          <p:cNvPr id="17968" name="Diagram 17967">
            <a:extLst>
              <a:ext uri="{FF2B5EF4-FFF2-40B4-BE49-F238E27FC236}">
                <a16:creationId xmlns:a16="http://schemas.microsoft.com/office/drawing/2014/main" id="{332D9FD1-D4F2-9B37-A85F-5FE042865D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58879756"/>
              </p:ext>
            </p:extLst>
          </p:nvPr>
        </p:nvGraphicFramePr>
        <p:xfrm>
          <a:off x="747623" y="1398918"/>
          <a:ext cx="10840527" cy="46927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34955A18-E37B-8F56-6875-3B7368FC920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27777" cy="81749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ea typeface="Calibri"/>
                <a:cs typeface="Calibri"/>
              </a:rPr>
              <a:t>Half</a:t>
            </a:r>
          </a:p>
          <a:p>
            <a:pPr algn="ctr"/>
            <a:r>
              <a:rPr lang="en-US">
                <a:ea typeface="Calibri"/>
                <a:cs typeface="Calibri"/>
              </a:rPr>
              <a:t>Squadron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53348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41B58D0-3100-F806-695F-A458461359A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28388048"/>
              </p:ext>
            </p:extLst>
          </p:nvPr>
        </p:nvGraphicFramePr>
        <p:xfrm>
          <a:off x="9776604" y="1427671"/>
          <a:ext cx="2041586" cy="47646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E472389B-7688-CBE7-FFAE-9B2343C7FE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5660" y="1061602"/>
            <a:ext cx="9560943" cy="5295515"/>
          </a:xfrm>
          <a:prstGeom prst="rect">
            <a:avLst/>
          </a:prstGeom>
        </p:spPr>
      </p:pic>
      <p:sp>
        <p:nvSpPr>
          <p:cNvPr id="5" name="Oval 4" descr="Your startup LOGO">
            <a:extLst>
              <a:ext uri="{FF2B5EF4-FFF2-40B4-BE49-F238E27FC236}">
                <a16:creationId xmlns:a16="http://schemas.microsoft.com/office/drawing/2014/main" id="{44771446-9DC0-3851-42F9-D05A873CBCB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27777" cy="81749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ea typeface="Calibri"/>
                <a:cs typeface="Calibri"/>
              </a:rPr>
              <a:t>Half</a:t>
            </a:r>
          </a:p>
          <a:p>
            <a:pPr algn="ctr"/>
            <a:r>
              <a:rPr lang="en-US">
                <a:ea typeface="Calibri"/>
                <a:cs typeface="Calibri"/>
              </a:rPr>
              <a:t>Squadron</a:t>
            </a:r>
            <a:endParaRPr lang="en-US" dirty="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27777" cy="81749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ea typeface="Calibri"/>
                <a:cs typeface="Calibri"/>
              </a:rPr>
              <a:t>Half</a:t>
            </a:r>
          </a:p>
          <a:p>
            <a:pPr algn="ctr"/>
            <a:r>
              <a:rPr lang="en-US">
                <a:ea typeface="Calibri"/>
                <a:cs typeface="Calibri"/>
              </a:rPr>
              <a:t>Squadron</a:t>
            </a:r>
            <a:endParaRPr lang="en-US" dirty="0">
              <a:ea typeface="Calibri"/>
              <a:cs typeface="Calibri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1A8D59C-09F7-B8AF-7FBF-512FB217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79" t="2128" r="1062" b="2553"/>
          <a:stretch>
            <a:fillRect/>
          </a:stretch>
        </p:blipFill>
        <p:spPr>
          <a:xfrm>
            <a:off x="1149218" y="1299321"/>
            <a:ext cx="10321436" cy="454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18551" name="Diagram 18550">
            <a:extLst>
              <a:ext uri="{FF2B5EF4-FFF2-40B4-BE49-F238E27FC236}">
                <a16:creationId xmlns:a16="http://schemas.microsoft.com/office/drawing/2014/main" id="{41E02801-9E5E-2E94-72BF-AF2F41C84F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84399527"/>
              </p:ext>
            </p:extLst>
          </p:nvPr>
        </p:nvGraphicFramePr>
        <p:xfrm>
          <a:off x="2487283" y="2692880"/>
          <a:ext cx="7950679" cy="33844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18618" name="TextBox 18617">
            <a:extLst>
              <a:ext uri="{FF2B5EF4-FFF2-40B4-BE49-F238E27FC236}">
                <a16:creationId xmlns:a16="http://schemas.microsoft.com/office/drawing/2014/main" id="{B6F4BE6F-95B3-3D90-8A7C-96D395A42212}"/>
              </a:ext>
            </a:extLst>
          </p:cNvPr>
          <p:cNvSpPr txBox="1"/>
          <p:nvPr/>
        </p:nvSpPr>
        <p:spPr>
          <a:xfrm>
            <a:off x="2310472" y="906385"/>
            <a:ext cx="7589103" cy="212365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1200" b="1" dirty="0">
                <a:ea typeface="Calibri"/>
                <a:cs typeface="Calibri"/>
              </a:rPr>
              <a:t>Potential Impact on the Target Audience</a:t>
            </a:r>
            <a:endParaRPr lang="en-US" sz="1200" dirty="0">
              <a:ea typeface="Calibri"/>
              <a:cs typeface="Calibri"/>
            </a:endParaRPr>
          </a:p>
          <a:p>
            <a:pPr marL="285750" indent="-285750" algn="just">
              <a:buFont typeface="Arial,Sans-Serif"/>
              <a:buChar char="•"/>
            </a:pPr>
            <a:r>
              <a:rPr lang="en-US" sz="1200" dirty="0">
                <a:latin typeface="Calibri"/>
                <a:ea typeface="Calibri"/>
                <a:cs typeface="Calibri"/>
              </a:rPr>
              <a:t>Directly improves survivability for aircrew and ship crews operating under RWR/ESM cover — faster, more reliable threat detection in the critical seconds before missile lock</a:t>
            </a:r>
          </a:p>
          <a:p>
            <a:pPr marL="285750" indent="-285750" algn="just">
              <a:buFont typeface="Arial,Sans-Serif"/>
              <a:buChar char="•"/>
            </a:pPr>
            <a:r>
              <a:rPr lang="en-US" sz="1200" dirty="0">
                <a:latin typeface="Calibri"/>
                <a:ea typeface="Calibri"/>
                <a:cs typeface="Calibri"/>
              </a:rPr>
              <a:t>Reduces cognitive load on human operators by automating scan prioritization, letting crews focus on tactical response rather than manual threat triage</a:t>
            </a:r>
          </a:p>
          <a:p>
            <a:pPr marL="285750" indent="-285750" algn="just">
              <a:buFont typeface="Arial,Sans-Serif"/>
              <a:buChar char="•"/>
            </a:pPr>
            <a:r>
              <a:rPr lang="en-US" sz="1200" dirty="0">
                <a:latin typeface="Calibri"/>
                <a:ea typeface="Calibri"/>
                <a:cs typeface="Calibri"/>
              </a:rPr>
              <a:t>Strengthens India's indigenous EW capability, reducing reliance on imported ESM receiver systems for frontline defense platforms</a:t>
            </a:r>
          </a:p>
          <a:p>
            <a:pPr marL="285750" indent="-285750" algn="just">
              <a:buFont typeface="Arial,Sans-Serif"/>
              <a:buChar char="•"/>
            </a:pPr>
            <a:r>
              <a:rPr lang="en-US" sz="1200" dirty="0">
                <a:latin typeface="Calibri"/>
                <a:ea typeface="Calibri"/>
                <a:cs typeface="Calibri"/>
              </a:rPr>
              <a:t>Applicable across multiple platform classes (airborne, naval) without redesign, since the controller is software-defined on top of standard receiver hardware</a:t>
            </a:r>
          </a:p>
          <a:p>
            <a:pPr marL="285750" indent="-285750" algn="just">
              <a:buFont typeface="Arial,Sans-Serif"/>
              <a:buChar char="•"/>
            </a:pPr>
            <a:endParaRPr lang="en-US" sz="1200" dirty="0">
              <a:ea typeface="Calibri"/>
              <a:cs typeface="Calibri"/>
            </a:endParaRPr>
          </a:p>
          <a:p>
            <a:pPr algn="l"/>
            <a:endParaRPr lang="en-US" sz="1200" dirty="0">
              <a:cs typeface="Calibri"/>
            </a:endParaRPr>
          </a:p>
        </p:txBody>
      </p:sp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C830634A-2F33-F27D-2BA2-3F46DEC8D15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27777" cy="81749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ea typeface="Calibri"/>
                <a:cs typeface="Calibri"/>
              </a:rPr>
              <a:t>Half</a:t>
            </a:r>
          </a:p>
          <a:p>
            <a:pPr algn="ctr"/>
            <a:r>
              <a:rPr lang="en-US">
                <a:ea typeface="Calibri"/>
                <a:cs typeface="Calibri"/>
              </a:rPr>
              <a:t>Squadron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67B60-3F0E-AF83-D7E5-0C06FE30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ACC185-67B9-CCB3-993A-FCDD1A17C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>
            <a:extLst>
              <a:ext uri="{FF2B5EF4-FFF2-40B4-BE49-F238E27FC236}">
                <a16:creationId xmlns:a16="http://schemas.microsoft.com/office/drawing/2014/main" id="{42A00217-7949-6EBC-AD12-59235D2D3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>
            <a:extLst>
              <a:ext uri="{FF2B5EF4-FFF2-40B4-BE49-F238E27FC236}">
                <a16:creationId xmlns:a16="http://schemas.microsoft.com/office/drawing/2014/main" id="{9903EEFD-5880-6842-8B44-C91E0D66D6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940" y="1386280"/>
            <a:ext cx="11700054" cy="56323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AutoNum type="arabicPeriod"/>
              <a:defRPr/>
            </a:pPr>
            <a:r>
              <a:rPr lang="en-US" b="1">
                <a:latin typeface="Calibri"/>
                <a:ea typeface="ＭＳ Ｐゴシック"/>
                <a:cs typeface="Calibri"/>
              </a:rPr>
              <a:t>Radar Dataset Turing Synthetic Radar Dataset (TSRD) </a:t>
            </a:r>
            <a:r>
              <a:rPr lang="en-US" dirty="0">
                <a:latin typeface="Calibri"/>
                <a:ea typeface="ＭＳ Ｐゴシック"/>
                <a:cs typeface="Calibri"/>
              </a:rPr>
              <a:t>— </a:t>
            </a:r>
            <a:r>
              <a:rPr lang="en-US" dirty="0">
                <a:latin typeface="Calibri"/>
                <a:ea typeface="ＭＳ Ｐゴシック"/>
                <a:cs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https://arxiv.org/abs/2602.03856</a:t>
            </a:r>
            <a:r>
              <a:rPr lang="en-US">
                <a:latin typeface="Calibri"/>
                <a:ea typeface="ＭＳ Ｐゴシック"/>
                <a:cs typeface="Calibri"/>
              </a:rPr>
              <a:t> Dataset repository — </a:t>
            </a:r>
            <a:r>
              <a:rPr lang="en-US" dirty="0">
                <a:latin typeface="Calibri"/>
                <a:ea typeface="ＭＳ Ｐゴシック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https://huggingface.co/datasets/alan-turing-institute/turing-synthetic-radar-dataset</a:t>
            </a:r>
            <a:endParaRPr lang="en-US">
              <a:latin typeface="Calibri"/>
              <a:ea typeface="ＭＳ Ｐゴシック"/>
              <a:cs typeface="Calibri"/>
            </a:endParaRPr>
          </a:p>
          <a:p>
            <a:pPr marL="342900" indent="-342900">
              <a:buAutoNum type="arabicPeriod"/>
              <a:defRPr/>
            </a:pPr>
            <a:r>
              <a:rPr lang="en-US" b="1" dirty="0">
                <a:latin typeface="Calibri"/>
                <a:ea typeface="ＭＳ Ｐゴシック"/>
                <a:cs typeface="Calibri"/>
              </a:rPr>
              <a:t>De-Interleaving Foundations </a:t>
            </a:r>
            <a:endParaRPr lang="en-US" b="1">
              <a:latin typeface="Calibri"/>
              <a:ea typeface="ＭＳ Ｐゴシック"/>
              <a:cs typeface="Calibri"/>
            </a:endParaRPr>
          </a:p>
          <a:p>
            <a:pPr marL="800100" lvl="1" indent="-342900">
              <a:buAutoNum type="arabicPeriod"/>
              <a:defRPr/>
            </a:pPr>
            <a:r>
              <a:rPr lang="en-US" dirty="0"/>
              <a:t>Davies &amp; Hollands (1982), "Automatic processing for ESM" —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https://doi.org/10.1049/ip-f-1.1982.0025</a:t>
            </a:r>
            <a:r>
              <a:rPr lang="en-US" dirty="0"/>
              <a:t> </a:t>
            </a:r>
            <a:endParaRPr lang="en-US">
              <a:cs typeface="Calibri" pitchFamily="34" charset="0"/>
            </a:endParaRPr>
          </a:p>
          <a:p>
            <a:pPr marL="800100" lvl="1" indent="-342900">
              <a:buAutoNum type="arabicPeriod"/>
              <a:defRPr/>
            </a:pPr>
            <a:r>
              <a:rPr lang="en-US" dirty="0" err="1">
                <a:latin typeface="Calibri"/>
                <a:ea typeface="ＭＳ Ｐゴシック"/>
                <a:cs typeface="Calibri"/>
              </a:rPr>
              <a:t>Mardia</a:t>
            </a:r>
            <a:r>
              <a:rPr lang="en-US" dirty="0">
                <a:latin typeface="Calibri"/>
                <a:ea typeface="ＭＳ Ｐゴシック"/>
                <a:cs typeface="Calibri"/>
              </a:rPr>
              <a:t> (1989), "New techniques for the deinterleaving of repetitive sequences"  </a:t>
            </a:r>
            <a:r>
              <a:rPr lang="en-US" dirty="0">
                <a:latin typeface="Calibri"/>
                <a:ea typeface="ＭＳ Ｐゴシック"/>
                <a:cs typeface="Calibr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https://doi.org/10.1049/ip-f-2.1989.0025</a:t>
            </a:r>
            <a:r>
              <a:rPr lang="en-US" dirty="0">
                <a:latin typeface="Calibri"/>
                <a:ea typeface="ＭＳ Ｐゴシック"/>
                <a:cs typeface="Calibri"/>
              </a:rPr>
              <a:t> </a:t>
            </a:r>
            <a:endParaRPr lang="en-US">
              <a:latin typeface="Calibri"/>
              <a:ea typeface="ＭＳ Ｐゴシック"/>
              <a:cs typeface="Calibri"/>
            </a:endParaRPr>
          </a:p>
          <a:p>
            <a:pPr marL="800100" lvl="1" indent="-342900">
              <a:buAutoNum type="arabicPeriod"/>
              <a:defRPr/>
            </a:pPr>
            <a:r>
              <a:rPr lang="en-US">
                <a:latin typeface="Calibri"/>
                <a:ea typeface="ＭＳ Ｐゴシック"/>
                <a:cs typeface="Calibri"/>
              </a:rPr>
              <a:t>Milojević &amp; Popović (1992), "Improved algorithm for the deinterleaving of radar pulses"  </a:t>
            </a:r>
            <a:r>
              <a:rPr lang="en-US" dirty="0">
                <a:latin typeface="Calibri"/>
                <a:ea typeface="ＭＳ Ｐゴシック"/>
                <a:cs typeface="Calibr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https://doi.org/10.1049/ip-f-2.1992.0012</a:t>
            </a:r>
            <a:endParaRPr lang="en-US">
              <a:latin typeface="Calibri"/>
              <a:ea typeface="ＭＳ Ｐゴシック"/>
              <a:cs typeface="Calibri"/>
            </a:endParaRPr>
          </a:p>
          <a:p>
            <a:pPr marL="342900" indent="-342900">
              <a:buAutoNum type="arabicPeriod"/>
              <a:defRPr/>
            </a:pPr>
            <a:r>
              <a:rPr lang="en-US" b="1" dirty="0">
                <a:latin typeface="Calibri"/>
                <a:ea typeface="ＭＳ Ｐゴシック"/>
                <a:cs typeface="Calibri"/>
              </a:rPr>
              <a:t>Cognitive Algorithms </a:t>
            </a:r>
            <a:r>
              <a:rPr lang="en-US" b="1">
                <a:latin typeface="Calibri"/>
                <a:ea typeface="ＭＳ Ｐゴシック"/>
                <a:cs typeface="Calibri"/>
              </a:rPr>
              <a:t> </a:t>
            </a:r>
          </a:p>
          <a:p>
            <a:pPr marL="800100" lvl="1" indent="-342900">
              <a:buAutoNum type="arabicPeriod"/>
              <a:defRPr/>
            </a:pPr>
            <a:r>
              <a:rPr lang="en-US"/>
              <a:t>Mnih et al. (2015), "Human-level control through deep reinforcement learning"  </a:t>
            </a:r>
            <a:r>
              <a:rPr lang="en-US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https://doi.org/10.1038/nature14236</a:t>
            </a:r>
            <a:r>
              <a:rPr lang="en-US" dirty="0"/>
              <a:t> </a:t>
            </a:r>
            <a:endParaRPr lang="en-US">
              <a:cs typeface="Calibri" pitchFamily="34" charset="0"/>
            </a:endParaRPr>
          </a:p>
          <a:p>
            <a:pPr marL="800100" lvl="1" indent="-342900">
              <a:buAutoNum type="arabicPeriod"/>
              <a:defRPr/>
            </a:pPr>
            <a:r>
              <a:rPr lang="en-US" dirty="0"/>
              <a:t>Schaul et al. (2016), "Prioritized Experience Replay" — </a:t>
            </a:r>
            <a:r>
              <a:rPr lang="en-US" dirty="0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https://arxiv.org/abs/1511.05952</a:t>
            </a:r>
            <a:r>
              <a:rPr lang="en-US" dirty="0"/>
              <a:t> </a:t>
            </a:r>
            <a:endParaRPr lang="en-US">
              <a:cs typeface="Calibri" pitchFamily="34" charset="0"/>
            </a:endParaRPr>
          </a:p>
          <a:p>
            <a:pPr marL="800100" lvl="1" indent="-342900">
              <a:buAutoNum type="arabicPeriod"/>
              <a:defRPr/>
            </a:pPr>
            <a:r>
              <a:rPr lang="en-US" dirty="0">
                <a:latin typeface="Calibri"/>
                <a:ea typeface="ＭＳ Ｐゴシック"/>
                <a:cs typeface="Calibri"/>
              </a:rPr>
              <a:t>Auer et al. (2002), "The </a:t>
            </a:r>
            <a:r>
              <a:rPr lang="en-US" dirty="0" err="1">
                <a:latin typeface="Calibri"/>
                <a:ea typeface="ＭＳ Ｐゴシック"/>
                <a:cs typeface="Calibri"/>
              </a:rPr>
              <a:t>Nonstochastic</a:t>
            </a:r>
            <a:r>
              <a:rPr lang="en-US" dirty="0">
                <a:latin typeface="Calibri"/>
                <a:ea typeface="ＭＳ Ｐゴシック"/>
                <a:cs typeface="Calibri"/>
              </a:rPr>
              <a:t> Multiarmed Bandit Problem"  </a:t>
            </a:r>
            <a:r>
              <a:rPr lang="en-US" dirty="0">
                <a:latin typeface="Calibri"/>
                <a:ea typeface="ＭＳ Ｐゴシック"/>
                <a:cs typeface="Calibr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https://doi.org/10.1137/S0097539701398375</a:t>
            </a:r>
            <a:endParaRPr lang="en-US">
              <a:latin typeface="Calibri"/>
              <a:ea typeface="ＭＳ Ｐゴシック"/>
              <a:cs typeface="Calibri"/>
            </a:endParaRPr>
          </a:p>
          <a:p>
            <a:pPr marL="342900" indent="-342900">
              <a:buAutoNum type="arabicPeriod"/>
              <a:defRPr/>
            </a:pPr>
            <a:r>
              <a:rPr lang="en-US" b="1">
                <a:latin typeface="Calibri"/>
                <a:ea typeface="ＭＳ Ｐゴシック"/>
                <a:cs typeface="Calibri"/>
              </a:rPr>
              <a:t>Synthesizer Hardware Baselines </a:t>
            </a:r>
          </a:p>
          <a:p>
            <a:pPr marL="800100" lvl="1" indent="-342900">
              <a:buAutoNum type="arabicPeriod"/>
              <a:defRPr/>
            </a:pPr>
            <a:r>
              <a:rPr lang="en-US">
                <a:latin typeface="Calibri"/>
                <a:ea typeface="ＭＳ Ｐゴシック"/>
                <a:cs typeface="Calibri"/>
              </a:rPr>
              <a:t>Analog Devices, ADF4371 Datasheet</a:t>
            </a:r>
            <a:r>
              <a:rPr lang="en-US" b="1" dirty="0">
                <a:latin typeface="Calibri"/>
                <a:ea typeface="ＭＳ Ｐゴシック"/>
                <a:cs typeface="Calibri"/>
              </a:rPr>
              <a:t> </a:t>
            </a:r>
            <a:r>
              <a:rPr lang="en-US" dirty="0">
                <a:latin typeface="Calibri"/>
                <a:ea typeface="ＭＳ Ｐゴシック"/>
                <a:cs typeface="Calibri"/>
              </a:rPr>
              <a:t> </a:t>
            </a:r>
            <a:r>
              <a:rPr lang="en-US" dirty="0">
                <a:latin typeface="Calibri"/>
                <a:ea typeface="ＭＳ Ｐゴシック"/>
                <a:cs typeface="Calibr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https://www.analog.com/media/en/technical-documentation/data-sheets/adf4371.pdf</a:t>
            </a:r>
            <a:r>
              <a:rPr lang="en-US" dirty="0">
                <a:latin typeface="Calibri"/>
                <a:ea typeface="ＭＳ Ｐゴシック"/>
                <a:cs typeface="Calibri"/>
              </a:rPr>
              <a:t> </a:t>
            </a:r>
            <a:endParaRPr lang="en-US">
              <a:cs typeface="Calibri" pitchFamily="34" charset="0"/>
            </a:endParaRPr>
          </a:p>
          <a:p>
            <a:pPr marL="800100" lvl="1" indent="-342900">
              <a:buAutoNum type="arabicPeriod"/>
              <a:defRPr/>
            </a:pPr>
            <a:r>
              <a:rPr lang="en-US"/>
              <a:t>Texas Instruments, LMX2594 Datasheet — </a:t>
            </a:r>
            <a:r>
              <a:rPr lang="en-US" dirty="0"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https://www.ti.com/lit/ds/symlink/lmx2594.pdf</a:t>
            </a:r>
            <a:endParaRPr lang="en-US">
              <a:cs typeface="Calibri" pitchFamily="34" charset="0"/>
            </a:endParaRPr>
          </a:p>
          <a:p>
            <a:pPr marL="342900" indent="-342900" algn="just">
              <a:buAutoNum type="arabicPeriod"/>
              <a:defRPr/>
            </a:pPr>
            <a:endParaRPr lang="en-US">
              <a:cs typeface="Calibri" pitchFamily="34" charset="0"/>
            </a:endParaRPr>
          </a:p>
          <a:p>
            <a:pPr marL="342900" indent="-342900" algn="just">
              <a:buAutoNum type="arabicPeriod"/>
              <a:defRPr/>
            </a:pPr>
            <a:endParaRPr lang="en-US">
              <a:cs typeface="Calibri" pitchFamily="34" charset="0"/>
            </a:endParaRPr>
          </a:p>
          <a:p>
            <a:pPr marL="342900" indent="-342900" algn="just">
              <a:buAutoNum type="arabicPeriod"/>
              <a:defRPr/>
            </a:pPr>
            <a:endParaRPr lang="en-US" b="1" dirty="0">
              <a:solidFill>
                <a:prstClr val="black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159EE3-2D28-0CF0-E570-CBCBA7E6A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C4FFEAD-A598-FED9-537E-E79A5BA7F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BD852EF-9016-4A43-0FA5-DBBB3B8D30F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81DEDB99-B21B-ECAF-08D7-1661C2D8225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27777" cy="81749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>
                <a:ea typeface="Calibri"/>
                <a:cs typeface="Calibri"/>
              </a:rPr>
              <a:t>Half</a:t>
            </a:r>
          </a:p>
          <a:p>
            <a:pPr algn="ctr"/>
            <a:r>
              <a:rPr lang="en-US">
                <a:ea typeface="Calibri"/>
                <a:cs typeface="Calibri"/>
              </a:rPr>
              <a:t>Squadron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8485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811</Words>
  <Application>Microsoft Office PowerPoint</Application>
  <PresentationFormat>Widescreen</PresentationFormat>
  <Paragraphs>89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ＭＳ Ｐゴシック</vt:lpstr>
      <vt:lpstr>Arial</vt:lpstr>
      <vt:lpstr>Arial,Sans-Serif</vt:lpstr>
      <vt:lpstr>Calibri</vt:lpstr>
      <vt:lpstr>Garamond</vt:lpstr>
      <vt:lpstr>Times New Roman</vt:lpstr>
      <vt:lpstr>TradeGothic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Adittya Seetharaman</cp:lastModifiedBy>
  <cp:revision>246</cp:revision>
  <dcterms:created xsi:type="dcterms:W3CDTF">2013-12-12T18:46:50Z</dcterms:created>
  <dcterms:modified xsi:type="dcterms:W3CDTF">2026-08-30T13:16:35Z</dcterms:modified>
  <cp:category/>
</cp:coreProperties>
</file>