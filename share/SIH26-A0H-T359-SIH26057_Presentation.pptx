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2076450"/>
            <a:ext cx="10454701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US" sz="2400" b="1" dirty="0">
                <a:latin typeface="Calibri"/>
                <a:ea typeface="Calibri"/>
                <a:cs typeface="Calibri"/>
              </a:rPr>
              <a:t>SIH26057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dirty="0"/>
              <a:t>AI-Powered Automated Underwater Marine Debris and Anomaly Detection System using Side-Scan Sonar Imagery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Disaster Management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lang="en-US" sz="2400" b="1" dirty="0">
                <a:latin typeface="Arial"/>
                <a:ea typeface="ＭＳ Ｐゴシック"/>
                <a:cs typeface="Arial"/>
              </a:rPr>
              <a:t>SIH26-A0H-T359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</a:t>
            </a:r>
            <a:r>
              <a:rPr lang="en-US" sz="2400" b="1" dirty="0">
                <a:latin typeface="Arial"/>
                <a:ea typeface="ＭＳ Ｐゴシック"/>
                <a:cs typeface="Arial"/>
              </a:rPr>
              <a:t>Half Squadron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2640E7-8F7F-AA41-1FF8-9AF2EFF4A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943792"/>
              </p:ext>
            </p:extLst>
          </p:nvPr>
        </p:nvGraphicFramePr>
        <p:xfrm>
          <a:off x="1036202" y="1057558"/>
          <a:ext cx="10408546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905">
                  <a:extLst>
                    <a:ext uri="{9D8B030D-6E8A-4147-A177-3AD203B41FA5}">
                      <a16:colId xmlns:a16="http://schemas.microsoft.com/office/drawing/2014/main" val="279711557"/>
                    </a:ext>
                  </a:extLst>
                </a:gridCol>
                <a:gridCol w="2670232">
                  <a:extLst>
                    <a:ext uri="{9D8B030D-6E8A-4147-A177-3AD203B41FA5}">
                      <a16:colId xmlns:a16="http://schemas.microsoft.com/office/drawing/2014/main" val="1313583582"/>
                    </a:ext>
                  </a:extLst>
                </a:gridCol>
                <a:gridCol w="2511095">
                  <a:extLst>
                    <a:ext uri="{9D8B030D-6E8A-4147-A177-3AD203B41FA5}">
                      <a16:colId xmlns:a16="http://schemas.microsoft.com/office/drawing/2014/main" val="1598991079"/>
                    </a:ext>
                  </a:extLst>
                </a:gridCol>
                <a:gridCol w="2961314">
                  <a:extLst>
                    <a:ext uri="{9D8B030D-6E8A-4147-A177-3AD203B41FA5}">
                      <a16:colId xmlns:a16="http://schemas.microsoft.com/office/drawing/2014/main" val="1542310350"/>
                    </a:ext>
                  </a:extLst>
                </a:gridCol>
              </a:tblGrid>
              <a:tr h="328131">
                <a:tc gridSpan="4">
                  <a:txBody>
                    <a:bodyPr/>
                    <a:lstStyle/>
                    <a:p>
                      <a:pPr algn="ctr"/>
                      <a:r>
                        <a:rPr lang="en-IN" dirty="0"/>
                        <a:t>HIGH-LEVEL SOLUTION PIPELINE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127085"/>
                  </a:ext>
                </a:extLst>
              </a:tr>
              <a:tr h="4739808">
                <a:tc>
                  <a:txBody>
                    <a:bodyPr/>
                    <a:lstStyle/>
                    <a:p>
                      <a:r>
                        <a:rPr lang="en-IN" sz="1400" dirty="0"/>
                        <a:t>INGESTION &amp; HYDROACOUSTIC PREPROCESSING</a:t>
                      </a:r>
                    </a:p>
                    <a:p>
                      <a:r>
                        <a:rPr lang="en-IN" sz="1400" dirty="0"/>
                        <a:t>• Raw Binary Ingestion: Multi-threaded parsing of .</a:t>
                      </a:r>
                      <a:r>
                        <a:rPr lang="en-IN" sz="1400" dirty="0" err="1"/>
                        <a:t>xtf</a:t>
                      </a:r>
                      <a:r>
                        <a:rPr lang="en-IN" sz="1400" dirty="0"/>
                        <a:t>, .</a:t>
                      </a:r>
                      <a:r>
                        <a:rPr lang="en-IN" sz="1400" dirty="0" err="1"/>
                        <a:t>jsf</a:t>
                      </a:r>
                      <a:r>
                        <a:rPr lang="en-IN" sz="1400" dirty="0"/>
                        <a:t>, and .</a:t>
                      </a:r>
                      <a:r>
                        <a:rPr lang="en-IN" sz="1400" dirty="0" err="1"/>
                        <a:t>sdf</a:t>
                      </a:r>
                      <a:r>
                        <a:rPr lang="en-IN" sz="1400" dirty="0"/>
                        <a:t> side-scan sonar files[cite: 2].</a:t>
                      </a:r>
                    </a:p>
                    <a:p>
                      <a:r>
                        <a:rPr lang="en-IN" sz="1400" dirty="0"/>
                        <a:t>• Kinematic Rectification: Corrects vehicle heave, pitch, and speed jitter via IMU/INS spline interpolation (</a:t>
                      </a:r>
                      <a:r>
                        <a:rPr lang="el-GR" sz="1400" dirty="0"/>
                        <a:t>Δ</a:t>
                      </a:r>
                      <a:r>
                        <a:rPr lang="en-IN" sz="1400" dirty="0"/>
                        <a:t>y = SOG · </a:t>
                      </a:r>
                      <a:r>
                        <a:rPr lang="el-GR" sz="1400" dirty="0"/>
                        <a:t>Δ</a:t>
                      </a:r>
                      <a:r>
                        <a:rPr lang="en-IN" sz="1400" dirty="0"/>
                        <a:t>t)[cite: 2].</a:t>
                      </a:r>
                    </a:p>
                    <a:p>
                      <a:r>
                        <a:rPr lang="en-IN" sz="1400" dirty="0"/>
                        <a:t>• Radiometric Normalization: Excises nadir blind zone; applies EGN and TVG for cross-track gain balancing[cite: 2].</a:t>
                      </a:r>
                    </a:p>
                    <a:p>
                      <a:r>
                        <a:rPr lang="en-IN" sz="1400" dirty="0"/>
                        <a:t>• NSST </a:t>
                      </a:r>
                      <a:r>
                        <a:rPr lang="en-IN" sz="1400" dirty="0" err="1"/>
                        <a:t>Despeckling</a:t>
                      </a:r>
                      <a:r>
                        <a:rPr lang="en-IN" sz="1400" dirty="0"/>
                        <a:t>: Directional </a:t>
                      </a:r>
                      <a:r>
                        <a:rPr lang="en-IN" sz="1400" dirty="0" err="1"/>
                        <a:t>shearlet</a:t>
                      </a:r>
                      <a:r>
                        <a:rPr lang="en-IN" sz="1400" dirty="0"/>
                        <a:t> soft-thresholding removes Rayleigh noise while preserving sharp acoustic shadow edges[cite: 2].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DUAL-BRANCH AI BACKBONE (HYDRODEBRIS-NET)</a:t>
                      </a:r>
                    </a:p>
                    <a:p>
                      <a:pPr marL="0" algn="l" defTabSz="4572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Wavelet &amp; Directional Backbone: 2D DWT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downsampling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decouples target morphology from reverberation; Directional Filter Banks capture synthetic geometry[cite: 2].</a:t>
                      </a:r>
                    </a:p>
                    <a:p>
                      <a:pPr marL="0" algn="l" defTabSz="4572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Branch A (Rigid Anomalies): Predicts oriented bounding boxes [x, y, w, h, </a:t>
                      </a:r>
                      <a:r>
                        <a:rPr lang="el-G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θ_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rot, class] for pipes, drums, containers, and wrecks[cite: 2].</a:t>
                      </a:r>
                    </a:p>
                    <a:p>
                      <a:pPr marL="0" algn="l" defTabSz="4572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Branch B (Diffuse Debris): Predicts pixel-level semantic masks (Focal + Dice loss) for porous ghost fishing nets (ALDFG)[cite: 2].</a:t>
                      </a:r>
                    </a:p>
                    <a:p>
                      <a:pPr marL="0" algn="l" defTabSz="4572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Operational Speedup: Automates thousands of survey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kilometers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reducing manual data review from days to real time[cite: 2].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D-RAV PHYSICS VERIFICATION &amp; CONFIDENCE</a:t>
                      </a:r>
                    </a:p>
                    <a:p>
                      <a:pPr marL="0" algn="l" defTabSz="4572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Dual-Regime Shadow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Modeling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Eliminates false alarms from sand ripples and rocky bottoms by testing true acoustic physics[cite: 2].</a:t>
                      </a:r>
                    </a:p>
                    <a:p>
                      <a:pPr marL="0" algn="l" defTabSz="4572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Regime 1 (Rigid Opaque): Enforces ray-traced geometric shadow length consistency (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L_Phys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for solid objects[cite: 2].</a:t>
                      </a:r>
                    </a:p>
                    <a:p>
                      <a:pPr marL="0" algn="l" defTabSz="4572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Regime 2 (Porous Netting): Evaluates downstream backscatter attenuation (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S_net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against empirical transmittance (</a:t>
                      </a:r>
                      <a:r>
                        <a:rPr lang="el-G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κ_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trans)[cite: 2].</a:t>
                      </a:r>
                    </a:p>
                    <a:p>
                      <a:pPr marL="0" algn="l" defTabSz="4572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Calibrated Confidence (0–100%): Dynamic uncertainty (</a:t>
                      </a:r>
                      <a:r>
                        <a:rPr lang="el-G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σ_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acoustic) weighting to gate accept/reject classification[cite: 2].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EDGE GEOREFERENCING &amp; MISSION DASHBOARD</a:t>
                      </a:r>
                    </a:p>
                    <a:p>
                      <a:pPr marL="0" algn="l" defTabSz="4572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Slant-to-Ground Conversion: Computes true horizontal ground range: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x_g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√((u·</a:t>
                      </a:r>
                      <a:r>
                        <a:rPr lang="el-G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δ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r)² - H_alt²)[cite: 2].</a:t>
                      </a:r>
                    </a:p>
                    <a:p>
                      <a:pPr marL="0" algn="l" defTabSz="4572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Geodetic WGS84 Mapping: Projects metric offsets to global Lat/Lon using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towfish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heading and USBL/INS position[cite: 2].</a:t>
                      </a:r>
                    </a:p>
                    <a:p>
                      <a:pPr marL="0" algn="l" defTabSz="4572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Air-Gapped Edge Runtime: Fully self-contained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TensorRT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INT8 engine delivering ≥35 pings/sec on NVIDIA Jetson Orin (15W–50W)[cite: 2].</a:t>
                      </a:r>
                    </a:p>
                    <a:p>
                      <a:pPr marL="0" algn="l" defTabSz="4572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Output &amp; UI: Instant export of OGC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GeoJSON</a:t>
                      </a: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/Shapefiles and live monitoring via WebGL waterfall and Leaflet GIS map[cite: 2].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284135"/>
                  </a:ext>
                </a:extLst>
              </a:tr>
            </a:tbl>
          </a:graphicData>
        </a:graphic>
      </p:graphicFrame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2CF6A97E-46AF-D806-BF01-C5D46D7604C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3835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Half Squadron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C3F7F2E-8517-6041-B36C-25AEBD539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638618"/>
              </p:ext>
            </p:extLst>
          </p:nvPr>
        </p:nvGraphicFramePr>
        <p:xfrm>
          <a:off x="1061884" y="1461346"/>
          <a:ext cx="10520516" cy="4857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0129">
                  <a:extLst>
                    <a:ext uri="{9D8B030D-6E8A-4147-A177-3AD203B41FA5}">
                      <a16:colId xmlns:a16="http://schemas.microsoft.com/office/drawing/2014/main" val="2558742323"/>
                    </a:ext>
                  </a:extLst>
                </a:gridCol>
                <a:gridCol w="2630129">
                  <a:extLst>
                    <a:ext uri="{9D8B030D-6E8A-4147-A177-3AD203B41FA5}">
                      <a16:colId xmlns:a16="http://schemas.microsoft.com/office/drawing/2014/main" val="2344522974"/>
                    </a:ext>
                  </a:extLst>
                </a:gridCol>
                <a:gridCol w="2630129">
                  <a:extLst>
                    <a:ext uri="{9D8B030D-6E8A-4147-A177-3AD203B41FA5}">
                      <a16:colId xmlns:a16="http://schemas.microsoft.com/office/drawing/2014/main" val="2019464948"/>
                    </a:ext>
                  </a:extLst>
                </a:gridCol>
                <a:gridCol w="2630129">
                  <a:extLst>
                    <a:ext uri="{9D8B030D-6E8A-4147-A177-3AD203B41FA5}">
                      <a16:colId xmlns:a16="http://schemas.microsoft.com/office/drawing/2014/main" val="865482854"/>
                    </a:ext>
                  </a:extLst>
                </a:gridCol>
              </a:tblGrid>
              <a:tr h="377286">
                <a:tc gridSpan="4"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TECHNICAL ARCHITECTURE &amp; MATHEMATICAL ENGINE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033348"/>
                  </a:ext>
                </a:extLst>
              </a:tr>
              <a:tr h="4091032">
                <a:tc>
                  <a:txBody>
                    <a:bodyPr/>
                    <a:lstStyle/>
                    <a:p>
                      <a:r>
                        <a:rPr lang="en-IN" sz="1200" dirty="0"/>
                        <a:t>TELEMETRY INGESTION &amp; HYDROACOUSTIC PREPROCESSING</a:t>
                      </a:r>
                    </a:p>
                    <a:p>
                      <a:r>
                        <a:rPr lang="en-IN" sz="1200" dirty="0"/>
                        <a:t>• Raw Binary Ingestion: Multi-threaded decoding of .</a:t>
                      </a:r>
                      <a:r>
                        <a:rPr lang="en-IN" sz="1200" dirty="0" err="1"/>
                        <a:t>xtf</a:t>
                      </a:r>
                      <a:r>
                        <a:rPr lang="en-IN" sz="1200" dirty="0"/>
                        <a:t>, .</a:t>
                      </a:r>
                      <a:r>
                        <a:rPr lang="en-IN" sz="1200" dirty="0" err="1"/>
                        <a:t>jsf</a:t>
                      </a:r>
                      <a:r>
                        <a:rPr lang="en-IN" sz="1200" dirty="0"/>
                        <a:t>, and .</a:t>
                      </a:r>
                      <a:r>
                        <a:rPr lang="en-IN" sz="1200" dirty="0" err="1"/>
                        <a:t>sdf</a:t>
                      </a:r>
                      <a:r>
                        <a:rPr lang="en-IN" sz="1200" dirty="0"/>
                        <a:t> streams with synchronous navigation packet extraction[cite: 2].</a:t>
                      </a:r>
                    </a:p>
                    <a:p>
                      <a:r>
                        <a:rPr lang="en-IN" sz="1200" dirty="0"/>
                        <a:t>• Kinematic Rectification: Corrects vehicle heave, pitch, and speed jitter via cubic Hermite spline interpolation (</a:t>
                      </a:r>
                      <a:r>
                        <a:rPr lang="el-GR" sz="1200" dirty="0"/>
                        <a:t>Δ</a:t>
                      </a:r>
                      <a:r>
                        <a:rPr lang="en-IN" sz="1200" dirty="0"/>
                        <a:t>y = SOG · </a:t>
                      </a:r>
                      <a:r>
                        <a:rPr lang="el-GR" sz="1200" dirty="0"/>
                        <a:t>Δ</a:t>
                      </a:r>
                      <a:r>
                        <a:rPr lang="en-IN" sz="1200" dirty="0"/>
                        <a:t>t)[cite: 2].</a:t>
                      </a:r>
                    </a:p>
                    <a:p>
                      <a:r>
                        <a:rPr lang="en-IN" sz="1200" dirty="0"/>
                        <a:t>• Radiometric Normalization: Excises nadir blind zone; applies EGN and TVG to equalize cross-track acoustic transmission loss[cite: 2].</a:t>
                      </a:r>
                    </a:p>
                    <a:p>
                      <a:r>
                        <a:rPr lang="en-IN" sz="1200" dirty="0"/>
                        <a:t>• Multi-Scale NSST </a:t>
                      </a:r>
                      <a:r>
                        <a:rPr lang="en-IN" sz="1200" dirty="0" err="1"/>
                        <a:t>Despeckling</a:t>
                      </a:r>
                      <a:r>
                        <a:rPr lang="en-IN" sz="1200" dirty="0"/>
                        <a:t>: High-frequency directional soft-thresholding suppresses Rayleigh noise while preserving sharp shadow boundaries[cite: 2].</a:t>
                      </a:r>
                    </a:p>
                    <a:p>
                      <a:r>
                        <a:rPr lang="en-IN" sz="1200" dirty="0"/>
                        <a:t>• Slant-to-Ground Conversion: </a:t>
                      </a:r>
                      <a:r>
                        <a:rPr lang="en-IN" sz="1200" dirty="0" err="1"/>
                        <a:t>x_ground</a:t>
                      </a:r>
                      <a:r>
                        <a:rPr lang="en-IN" sz="1200" dirty="0"/>
                        <a:t> = √((u · </a:t>
                      </a:r>
                      <a:r>
                        <a:rPr lang="el-GR" sz="1200" dirty="0"/>
                        <a:t>δ</a:t>
                      </a:r>
                      <a:r>
                        <a:rPr lang="en-IN" sz="1200" dirty="0"/>
                        <a:t>r)² - H_alt²)[cite: 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DUAL-BRANCH DEEP LEARNING CORE (HYDRODEBRIS-NET)</a:t>
                      </a:r>
                    </a:p>
                    <a:p>
                      <a:r>
                        <a:rPr lang="en-IN" sz="1200" dirty="0"/>
                        <a:t>• Feature Backbone: Wavelet-embedded </a:t>
                      </a:r>
                      <a:r>
                        <a:rPr lang="en-IN" sz="1200" dirty="0" err="1"/>
                        <a:t>CSPDarknet</a:t>
                      </a:r>
                      <a:r>
                        <a:rPr lang="en-IN" sz="1200" dirty="0"/>
                        <a:t> using 2D DWT </a:t>
                      </a:r>
                      <a:r>
                        <a:rPr lang="en-IN" sz="1200" dirty="0" err="1"/>
                        <a:t>downsampling</a:t>
                      </a:r>
                      <a:r>
                        <a:rPr lang="en-IN" sz="1200" dirty="0"/>
                        <a:t> to isolate structural contours from acoustic reverberation[cite: 2].</a:t>
                      </a:r>
                    </a:p>
                    <a:p>
                      <a:r>
                        <a:rPr lang="en-IN" sz="1200" dirty="0"/>
                        <a:t>• Directional Filters: Integrates Directional Filter Banks (DFB) to capture linear and woven synthetic geometries absent in isotropic clutter[cite: 2].</a:t>
                      </a:r>
                    </a:p>
                    <a:p>
                      <a:r>
                        <a:rPr lang="en-IN" sz="1200" dirty="0"/>
                        <a:t>• Multi-Scale Neck: BiFPN augmented with Efficient Multi-Scale Attention (EMA) to preserve spatial features of small and narrow debris[cite: 2].</a:t>
                      </a:r>
                    </a:p>
                    <a:p>
                      <a:r>
                        <a:rPr lang="en-IN" sz="1200" dirty="0"/>
                        <a:t>• Branch A (Rigid Anomalies): Predicts oriented bounding boxes [x, y, w, h, </a:t>
                      </a:r>
                      <a:r>
                        <a:rPr lang="el-GR" sz="1200" dirty="0"/>
                        <a:t>θ_</a:t>
                      </a:r>
                      <a:r>
                        <a:rPr lang="en-IN" sz="1200" dirty="0"/>
                        <a:t>rot, class] for pipes, drums, containers, and shipwrecks[cite: 2].</a:t>
                      </a:r>
                    </a:p>
                    <a:p>
                      <a:r>
                        <a:rPr lang="en-IN" sz="1200" dirty="0"/>
                        <a:t>• Branch B (Diffuse Debris): Predicts pixel-level semantic masks via Focal-Dice objective: </a:t>
                      </a:r>
                      <a:r>
                        <a:rPr lang="en-IN" sz="1200" dirty="0" err="1"/>
                        <a:t>L_BranchB</a:t>
                      </a:r>
                      <a:r>
                        <a:rPr lang="en-IN" sz="1200" dirty="0"/>
                        <a:t> = </a:t>
                      </a:r>
                      <a:r>
                        <a:rPr lang="en-IN" sz="1200" dirty="0" err="1"/>
                        <a:t>L_Focal</a:t>
                      </a:r>
                      <a:r>
                        <a:rPr lang="en-IN" sz="1200" dirty="0"/>
                        <a:t>(M, M̂) + </a:t>
                      </a:r>
                      <a:r>
                        <a:rPr lang="en-IN" sz="1200" dirty="0" err="1"/>
                        <a:t>L_Dice</a:t>
                      </a:r>
                      <a:r>
                        <a:rPr lang="en-IN" sz="1200" dirty="0"/>
                        <a:t>(M, M̂)[cite: 2].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D-RAV PHYSICS VERIFICATION &amp; CALIBRATED CONFIDENCE</a:t>
                      </a:r>
                    </a:p>
                    <a:p>
                      <a:r>
                        <a:rPr lang="en-IN" sz="1200" dirty="0"/>
                        <a:t>• Theoretical Shadow Geometry: </a:t>
                      </a:r>
                      <a:r>
                        <a:rPr lang="en-IN" sz="1200" dirty="0" err="1"/>
                        <a:t>L_theoretical</a:t>
                      </a:r>
                      <a:r>
                        <a:rPr lang="en-IN" sz="1200" dirty="0"/>
                        <a:t> = (</a:t>
                      </a:r>
                      <a:r>
                        <a:rPr lang="en-IN" sz="1200" dirty="0" err="1"/>
                        <a:t>ĥ_o</a:t>
                      </a:r>
                      <a:r>
                        <a:rPr lang="en-IN" sz="1200" dirty="0"/>
                        <a:t> · √(R_s² - H_alt²)) / (</a:t>
                      </a:r>
                      <a:r>
                        <a:rPr lang="en-IN" sz="1200" dirty="0" err="1"/>
                        <a:t>H_alt</a:t>
                      </a:r>
                      <a:r>
                        <a:rPr lang="en-IN" sz="1200" dirty="0"/>
                        <a:t> - </a:t>
                      </a:r>
                      <a:r>
                        <a:rPr lang="en-IN" sz="1200" dirty="0" err="1"/>
                        <a:t>ĥ_o</a:t>
                      </a:r>
                      <a:r>
                        <a:rPr lang="en-IN" sz="1200" dirty="0"/>
                        <a:t>)[cite: 2]</a:t>
                      </a:r>
                    </a:p>
                    <a:p>
                      <a:r>
                        <a:rPr lang="en-IN" sz="1200" dirty="0"/>
                        <a:t>• Regime 1 (Rigid Opaque Loss): </a:t>
                      </a:r>
                      <a:r>
                        <a:rPr lang="en-IN" sz="1200" dirty="0" err="1"/>
                        <a:t>L_Phys</a:t>
                      </a:r>
                      <a:r>
                        <a:rPr lang="en-IN" sz="1200" dirty="0"/>
                        <a:t> = |L̂_s - (</a:t>
                      </a:r>
                      <a:r>
                        <a:rPr lang="en-IN" sz="1200" dirty="0" err="1"/>
                        <a:t>ĥ_o</a:t>
                      </a:r>
                      <a:r>
                        <a:rPr lang="en-IN" sz="1200" dirty="0"/>
                        <a:t> · √(R_s² - H_alt²)) / (</a:t>
                      </a:r>
                      <a:r>
                        <a:rPr lang="en-IN" sz="1200" dirty="0" err="1"/>
                        <a:t>H_alt</a:t>
                      </a:r>
                      <a:r>
                        <a:rPr lang="en-IN" sz="1200" dirty="0"/>
                        <a:t> - </a:t>
                      </a:r>
                      <a:r>
                        <a:rPr lang="en-IN" sz="1200" dirty="0" err="1"/>
                        <a:t>ĥ_o</a:t>
                      </a:r>
                      <a:r>
                        <a:rPr lang="en-IN" sz="1200" dirty="0"/>
                        <a:t>)|[cite: 2]</a:t>
                      </a:r>
                    </a:p>
                    <a:p>
                      <a:r>
                        <a:rPr lang="en-IN" sz="1200" dirty="0"/>
                        <a:t>• Dynamic Acoustic Uncertainty: </a:t>
                      </a:r>
                      <a:r>
                        <a:rPr lang="el-GR" sz="1200" dirty="0"/>
                        <a:t>σ_</a:t>
                      </a:r>
                      <a:r>
                        <a:rPr lang="en-IN" sz="1200" dirty="0"/>
                        <a:t>acoustic = √(</a:t>
                      </a:r>
                      <a:r>
                        <a:rPr lang="el-GR" sz="1200" dirty="0"/>
                        <a:t>δ</a:t>
                      </a:r>
                      <a:r>
                        <a:rPr lang="en-IN" sz="1200" dirty="0"/>
                        <a:t>r² + (R_s / </a:t>
                      </a:r>
                      <a:r>
                        <a:rPr lang="en-IN" sz="1200" dirty="0" err="1"/>
                        <a:t>H_alt</a:t>
                      </a:r>
                      <a:r>
                        <a:rPr lang="en-IN" sz="1200" dirty="0"/>
                        <a:t> · </a:t>
                      </a:r>
                      <a:r>
                        <a:rPr lang="el-GR" sz="1200" dirty="0"/>
                        <a:t>σ_</a:t>
                      </a:r>
                      <a:r>
                        <a:rPr lang="en-IN" sz="1200" dirty="0"/>
                        <a:t>alt)²) ≈ 0.15 m to 1.00 m[cite: 2]</a:t>
                      </a:r>
                    </a:p>
                    <a:p>
                      <a:r>
                        <a:rPr lang="en-IN" sz="1200" dirty="0"/>
                        <a:t>• Regime 2 (Porous Net Transmittance): </a:t>
                      </a:r>
                      <a:r>
                        <a:rPr lang="en-IN" sz="1200" dirty="0" err="1"/>
                        <a:t>S_net</a:t>
                      </a:r>
                      <a:r>
                        <a:rPr lang="en-IN" sz="1200" dirty="0"/>
                        <a:t> = clip((</a:t>
                      </a:r>
                      <a:r>
                        <a:rPr lang="en-IN" sz="1200" dirty="0" err="1"/>
                        <a:t>Ī_ambient</a:t>
                      </a:r>
                      <a:r>
                        <a:rPr lang="en-IN" sz="1200" dirty="0"/>
                        <a:t> - </a:t>
                      </a:r>
                      <a:r>
                        <a:rPr lang="en-IN" sz="1200" dirty="0" err="1"/>
                        <a:t>Ī_downstream</a:t>
                      </a:r>
                      <a:r>
                        <a:rPr lang="en-IN" sz="1200" dirty="0"/>
                        <a:t>) / (</a:t>
                      </a:r>
                      <a:r>
                        <a:rPr lang="en-IN" sz="1200" dirty="0" err="1"/>
                        <a:t>Ī_ambient</a:t>
                      </a:r>
                      <a:r>
                        <a:rPr lang="en-IN" sz="1200" dirty="0"/>
                        <a:t> · (1 - </a:t>
                      </a:r>
                      <a:r>
                        <a:rPr lang="el-GR" sz="1200" dirty="0"/>
                        <a:t>κ_</a:t>
                      </a:r>
                      <a:r>
                        <a:rPr lang="en-IN" sz="1200" dirty="0"/>
                        <a:t>trans)), 0, 1)[cite: 2]</a:t>
                      </a:r>
                    </a:p>
                    <a:p>
                      <a:r>
                        <a:rPr lang="en-IN" sz="1200" dirty="0"/>
                        <a:t>• Calibrated Confidence Scoring: </a:t>
                      </a:r>
                      <a:r>
                        <a:rPr lang="en-IN" sz="1200" dirty="0" err="1"/>
                        <a:t>C_final</a:t>
                      </a:r>
                      <a:r>
                        <a:rPr lang="en-IN" sz="1200" dirty="0"/>
                        <a:t> = (0.50 · </a:t>
                      </a:r>
                      <a:r>
                        <a:rPr lang="en-IN" sz="1200" dirty="0" err="1"/>
                        <a:t>P_class</a:t>
                      </a:r>
                      <a:r>
                        <a:rPr lang="en-IN" sz="1200" dirty="0"/>
                        <a:t> + 0.35 · </a:t>
                      </a:r>
                      <a:r>
                        <a:rPr lang="en-IN" sz="1200" dirty="0" err="1"/>
                        <a:t>S_phys</a:t>
                      </a:r>
                      <a:r>
                        <a:rPr lang="en-IN" sz="1200" dirty="0"/>
                        <a:t> + 0.15 · (1 - </a:t>
                      </a:r>
                      <a:r>
                        <a:rPr lang="en-IN" sz="1200" dirty="0" err="1"/>
                        <a:t>Clutter_GLCM</a:t>
                      </a:r>
                      <a:r>
                        <a:rPr lang="en-IN" sz="1200" dirty="0"/>
                        <a:t>)) × 100%[cite: 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D-RAV PHYSICS VERIFICATION &amp; CALIBRATED CONFIDENCE</a:t>
                      </a:r>
                    </a:p>
                    <a:p>
                      <a:r>
                        <a:rPr lang="en-IN" sz="1200" dirty="0"/>
                        <a:t>• Theoretical Shadow Geometry: </a:t>
                      </a:r>
                      <a:r>
                        <a:rPr lang="en-IN" sz="1200" dirty="0" err="1"/>
                        <a:t>L_theoretical</a:t>
                      </a:r>
                      <a:r>
                        <a:rPr lang="en-IN" sz="1200" dirty="0"/>
                        <a:t> = (</a:t>
                      </a:r>
                      <a:r>
                        <a:rPr lang="en-IN" sz="1200" dirty="0" err="1"/>
                        <a:t>ĥ_o</a:t>
                      </a:r>
                      <a:r>
                        <a:rPr lang="en-IN" sz="1200" dirty="0"/>
                        <a:t> · √(R_s² - H_alt²)) / (</a:t>
                      </a:r>
                      <a:r>
                        <a:rPr lang="en-IN" sz="1200" dirty="0" err="1"/>
                        <a:t>H_alt</a:t>
                      </a:r>
                      <a:r>
                        <a:rPr lang="en-IN" sz="1200" dirty="0"/>
                        <a:t> - </a:t>
                      </a:r>
                      <a:r>
                        <a:rPr lang="en-IN" sz="1200" dirty="0" err="1"/>
                        <a:t>ĥ_o</a:t>
                      </a:r>
                      <a:r>
                        <a:rPr lang="en-IN" sz="1200" dirty="0"/>
                        <a:t>)[cite: 2]</a:t>
                      </a:r>
                    </a:p>
                    <a:p>
                      <a:r>
                        <a:rPr lang="en-IN" sz="1200" dirty="0"/>
                        <a:t>• Regime 1 (Rigid Opaque Loss): </a:t>
                      </a:r>
                      <a:r>
                        <a:rPr lang="en-IN" sz="1200" dirty="0" err="1"/>
                        <a:t>L_Phys</a:t>
                      </a:r>
                      <a:r>
                        <a:rPr lang="en-IN" sz="1200" dirty="0"/>
                        <a:t> = |L̂_s - (</a:t>
                      </a:r>
                      <a:r>
                        <a:rPr lang="en-IN" sz="1200" dirty="0" err="1"/>
                        <a:t>ĥ_o</a:t>
                      </a:r>
                      <a:r>
                        <a:rPr lang="en-IN" sz="1200" dirty="0"/>
                        <a:t> · √(R_s² - H_alt²)) / (</a:t>
                      </a:r>
                      <a:r>
                        <a:rPr lang="en-IN" sz="1200" dirty="0" err="1"/>
                        <a:t>H_alt</a:t>
                      </a:r>
                      <a:r>
                        <a:rPr lang="en-IN" sz="1200" dirty="0"/>
                        <a:t> - </a:t>
                      </a:r>
                      <a:r>
                        <a:rPr lang="en-IN" sz="1200" dirty="0" err="1"/>
                        <a:t>ĥ_o</a:t>
                      </a:r>
                      <a:r>
                        <a:rPr lang="en-IN" sz="1200" dirty="0"/>
                        <a:t>)|[cite: 2]</a:t>
                      </a:r>
                    </a:p>
                    <a:p>
                      <a:r>
                        <a:rPr lang="en-IN" sz="1200" dirty="0"/>
                        <a:t>• Dynamic Acoustic Uncertainty: </a:t>
                      </a:r>
                      <a:r>
                        <a:rPr lang="el-GR" sz="1200" dirty="0"/>
                        <a:t>σ_</a:t>
                      </a:r>
                      <a:r>
                        <a:rPr lang="en-IN" sz="1200" dirty="0"/>
                        <a:t>acoustic = √(</a:t>
                      </a:r>
                      <a:r>
                        <a:rPr lang="el-GR" sz="1200" dirty="0"/>
                        <a:t>δ</a:t>
                      </a:r>
                      <a:r>
                        <a:rPr lang="en-IN" sz="1200" dirty="0"/>
                        <a:t>r² + (R_s / </a:t>
                      </a:r>
                      <a:r>
                        <a:rPr lang="en-IN" sz="1200" dirty="0" err="1"/>
                        <a:t>H_alt</a:t>
                      </a:r>
                      <a:r>
                        <a:rPr lang="en-IN" sz="1200" dirty="0"/>
                        <a:t> · </a:t>
                      </a:r>
                      <a:r>
                        <a:rPr lang="el-GR" sz="1200" dirty="0"/>
                        <a:t>σ_</a:t>
                      </a:r>
                      <a:r>
                        <a:rPr lang="en-IN" sz="1200" dirty="0"/>
                        <a:t>alt)²) ≈ 0.15 m to 1.00 m[cite: 2]</a:t>
                      </a:r>
                    </a:p>
                    <a:p>
                      <a:r>
                        <a:rPr lang="en-IN" sz="1200" dirty="0"/>
                        <a:t>• Regime 2 (Porous Net Transmittance): </a:t>
                      </a:r>
                      <a:r>
                        <a:rPr lang="en-IN" sz="1200" dirty="0" err="1"/>
                        <a:t>S_net</a:t>
                      </a:r>
                      <a:r>
                        <a:rPr lang="en-IN" sz="1200" dirty="0"/>
                        <a:t> = clip((</a:t>
                      </a:r>
                      <a:r>
                        <a:rPr lang="en-IN" sz="1200" dirty="0" err="1"/>
                        <a:t>Ī_ambient</a:t>
                      </a:r>
                      <a:r>
                        <a:rPr lang="en-IN" sz="1200" dirty="0"/>
                        <a:t> - </a:t>
                      </a:r>
                      <a:r>
                        <a:rPr lang="en-IN" sz="1200" dirty="0" err="1"/>
                        <a:t>Ī_downstream</a:t>
                      </a:r>
                      <a:r>
                        <a:rPr lang="en-IN" sz="1200" dirty="0"/>
                        <a:t>) / (</a:t>
                      </a:r>
                      <a:r>
                        <a:rPr lang="en-IN" sz="1200" dirty="0" err="1"/>
                        <a:t>Ī_ambient</a:t>
                      </a:r>
                      <a:r>
                        <a:rPr lang="en-IN" sz="1200" dirty="0"/>
                        <a:t> · (1 - </a:t>
                      </a:r>
                      <a:r>
                        <a:rPr lang="el-GR" sz="1200" dirty="0"/>
                        <a:t>κ_</a:t>
                      </a:r>
                      <a:r>
                        <a:rPr lang="en-IN" sz="1200" dirty="0"/>
                        <a:t>trans)), 0, 1)[cite: 2]</a:t>
                      </a:r>
                    </a:p>
                    <a:p>
                      <a:r>
                        <a:rPr lang="en-IN" sz="1200" dirty="0"/>
                        <a:t>• Calibrated Confidence Scoring: </a:t>
                      </a:r>
                      <a:r>
                        <a:rPr lang="en-IN" sz="1200" dirty="0" err="1"/>
                        <a:t>C_final</a:t>
                      </a:r>
                      <a:r>
                        <a:rPr lang="en-IN" sz="1200" dirty="0"/>
                        <a:t> = (0.50 · </a:t>
                      </a:r>
                      <a:r>
                        <a:rPr lang="en-IN" sz="1200" dirty="0" err="1"/>
                        <a:t>P_class</a:t>
                      </a:r>
                      <a:r>
                        <a:rPr lang="en-IN" sz="1200" dirty="0"/>
                        <a:t> + 0.35 · </a:t>
                      </a:r>
                      <a:r>
                        <a:rPr lang="en-IN" sz="1200" dirty="0" err="1"/>
                        <a:t>S_phys</a:t>
                      </a:r>
                      <a:r>
                        <a:rPr lang="en-IN" sz="1200" dirty="0"/>
                        <a:t> + 0.15 · (1 - </a:t>
                      </a:r>
                      <a:r>
                        <a:rPr lang="en-IN" sz="1200" dirty="0" err="1"/>
                        <a:t>Clutter_GLCM</a:t>
                      </a:r>
                      <a:r>
                        <a:rPr lang="en-IN" sz="1200" dirty="0"/>
                        <a:t>)) × 100%[cite: 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288011"/>
                  </a:ext>
                </a:extLst>
              </a:tr>
            </a:tbl>
          </a:graphicData>
        </a:graphic>
      </p:graphicFrame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E3BEB0AB-3C44-DCCE-25EF-695C8504DDB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3835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Half Squadron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DD62F3-8312-655B-8DC4-840A6615C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676019"/>
              </p:ext>
            </p:extLst>
          </p:nvPr>
        </p:nvGraphicFramePr>
        <p:xfrm>
          <a:off x="1327355" y="1260439"/>
          <a:ext cx="9488130" cy="5101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2710">
                  <a:extLst>
                    <a:ext uri="{9D8B030D-6E8A-4147-A177-3AD203B41FA5}">
                      <a16:colId xmlns:a16="http://schemas.microsoft.com/office/drawing/2014/main" val="3421530023"/>
                    </a:ext>
                  </a:extLst>
                </a:gridCol>
                <a:gridCol w="3162710">
                  <a:extLst>
                    <a:ext uri="{9D8B030D-6E8A-4147-A177-3AD203B41FA5}">
                      <a16:colId xmlns:a16="http://schemas.microsoft.com/office/drawing/2014/main" val="3026221451"/>
                    </a:ext>
                  </a:extLst>
                </a:gridCol>
                <a:gridCol w="3162710">
                  <a:extLst>
                    <a:ext uri="{9D8B030D-6E8A-4147-A177-3AD203B41FA5}">
                      <a16:colId xmlns:a16="http://schemas.microsoft.com/office/drawing/2014/main" val="4029295904"/>
                    </a:ext>
                  </a:extLst>
                </a:gridCol>
              </a:tblGrid>
              <a:tr h="418840">
                <a:tc>
                  <a:txBody>
                    <a:bodyPr/>
                    <a:lstStyle/>
                    <a:p>
                      <a:r>
                        <a:rPr lang="en-IN" dirty="0"/>
                        <a:t>Analysis of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Potential Challenges &amp; Risks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Mitigation Strategies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641235"/>
                  </a:ext>
                </a:extLst>
              </a:tr>
              <a:tr h="1116470"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Compute &amp; Memory Budget</a:t>
                      </a:r>
                    </a:p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Power &amp; Memory: &lt; 35W | &lt; 4GB VRAM[cite: 2]</a:t>
                      </a:r>
                    </a:p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INT8 quantized </a:t>
                      </a:r>
                      <a:r>
                        <a:rPr lang="en-IN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TensorRT</a:t>
                      </a:r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execution engine targeting NVIDIA Jetson AGX Orin / Orin NX (15W–50W power envelope)[cite: 2].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Compute &amp; Memory Budget</a:t>
                      </a:r>
                    </a:p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Power &amp; Memory: &lt; 35W | &lt; 4GB VRAM[cite: 2]</a:t>
                      </a:r>
                    </a:p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INT8 quantized </a:t>
                      </a:r>
                      <a:r>
                        <a:rPr lang="en-IN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TensorRT</a:t>
                      </a:r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execution engine targeting NVIDIA Jetson AGX Orin / Orin NX (15W–50W power envelope)[cite: 2].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Directional NSST Denoising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High-frequency directional sub-band soft thresholding suppresses multiplicative speckle[cite: 2].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Preserves critical shadow boundary transitions and fine netting edges[cite: 2].</a:t>
                      </a:r>
                      <a:endParaRPr lang="en-I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150736"/>
                  </a:ext>
                </a:extLst>
              </a:tr>
              <a:tr h="1116470"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Real-Time Pipeline Latency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Throughput: ≥ 35 pings/sec[cite: 2]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Triple-buffered asynchronous CUDA streams prevent I/O bottlenecks and survey stalls[cite: 2].</a:t>
                      </a:r>
                      <a:endParaRPr lang="en-I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Porous Ghost Net Shadow Ambiguity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Permeable polymer netting allows acoustic pings to partially pass through[cite: 2].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Causes conventional solid-body shadow checkers to trigger false-negative drops[cite: 2].</a:t>
                      </a:r>
                      <a:endParaRPr lang="en-I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Regime 2 Transmittance Attenuation</a:t>
                      </a:r>
                    </a:p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Calculates downstream backscatter drop (</a:t>
                      </a:r>
                      <a:r>
                        <a:rPr lang="en-IN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S_net</a:t>
                      </a:r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against empirical </a:t>
                      </a:r>
                      <a:r>
                        <a:rPr lang="el-G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κ_</a:t>
                      </a:r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trans baseline[cite: 2].</a:t>
                      </a:r>
                    </a:p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Validates porous gear without requiring a solid, hard-cast shadow[cite: 2].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048363"/>
                  </a:ext>
                </a:extLst>
              </a:tr>
              <a:tr h="1116470"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Hydroacoustic Sensor Realism</a:t>
                      </a:r>
                    </a:p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Dynamic </a:t>
                      </a:r>
                      <a:r>
                        <a:rPr lang="el-G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σ_</a:t>
                      </a:r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acoustic tolerance (0.15 m – 1.00 m)[cite: 2]</a:t>
                      </a:r>
                    </a:p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Accounts for altimeter uncertainty (</a:t>
                      </a:r>
                      <a:r>
                        <a:rPr lang="el-G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σ_</a:t>
                      </a:r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alt) and grazing-angle geometric dilution of precision (GDOP)[cite: 2].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Seabed Clutter &amp; Rocky False Positives</a:t>
                      </a:r>
                    </a:p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Sand ripples and natural rock outcroppings mimic synthetic target shapes[cite: 2].</a:t>
                      </a:r>
                    </a:p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Inflates false-alarm rates in complex natural benthic terrain[cite: 2].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Ray-Tracing Physics Loss (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L_Phys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Enforces strict height-to-shadow ratios from acoustic projection geometry[cite: 2].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Penalizes flat 2D visual artifacts lacking proportional acoustic shadow length[cite: 2].</a:t>
                      </a:r>
                      <a:endParaRPr lang="en-IN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224709"/>
                  </a:ext>
                </a:extLst>
              </a:tr>
              <a:tr h="1116470"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100% Native &amp; Air-Gapped</a:t>
                      </a:r>
                    </a:p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Zero Cloud Dependencies[cite: 2]</a:t>
                      </a:r>
                    </a:p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Self-contained C++/CUDA binary fulfilling maritime autonomy standards inside AUV dry hulls[cite: 2].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Vehicle Motion Jitter &amp; USBL Dropouts</a:t>
                      </a:r>
                    </a:p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Towing speed fluctuations distort along-track aspect ratios[cite: 2].</a:t>
                      </a:r>
                    </a:p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Acoustic positioning losses cause unreferenced anomaly detections[cite: 2].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Hermite Splines &amp; Local Dead-Reckoning</a:t>
                      </a:r>
                    </a:p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Resamples waterfall grid via SOG · </a:t>
                      </a:r>
                      <a:r>
                        <a:rPr lang="el-G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Δ</a:t>
                      </a:r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using cubic Hermite splines[cite: 2].</a:t>
                      </a:r>
                    </a:p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Gracefully falls back to local metric tracking until INS navigation recovers[cite: 2].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449389"/>
                  </a:ext>
                </a:extLst>
              </a:tr>
            </a:tbl>
          </a:graphicData>
        </a:graphic>
      </p:graphicFrame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61BA993F-CEF8-5297-DE69-985CFBCBA56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3835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Half Squadron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8F537BB-7F7A-A6CD-B2E4-9023FF9A7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677169"/>
              </p:ext>
            </p:extLst>
          </p:nvPr>
        </p:nvGraphicFramePr>
        <p:xfrm>
          <a:off x="1229032" y="1146411"/>
          <a:ext cx="9812594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7562">
                  <a:extLst>
                    <a:ext uri="{9D8B030D-6E8A-4147-A177-3AD203B41FA5}">
                      <a16:colId xmlns:a16="http://schemas.microsoft.com/office/drawing/2014/main" val="4143688538"/>
                    </a:ext>
                  </a:extLst>
                </a:gridCol>
                <a:gridCol w="7325032">
                  <a:extLst>
                    <a:ext uri="{9D8B030D-6E8A-4147-A177-3AD203B41FA5}">
                      <a16:colId xmlns:a16="http://schemas.microsoft.com/office/drawing/2014/main" val="87576203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POTENTIAL IMPACT ON TARGET AUDIENCE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360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err="1"/>
                        <a:t>MoES</a:t>
                      </a:r>
                      <a:r>
                        <a:rPr lang="en-IN" sz="1200" dirty="0"/>
                        <a:t> / NIOT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• Empowers India's Deep Ocean Mission with autonomous benthic survey intelligence[cite: 1, 2].</a:t>
                      </a:r>
                    </a:p>
                    <a:p>
                      <a:r>
                        <a:rPr lang="en-US" sz="1200" dirty="0"/>
                        <a:t>• Automates hazard clearance and ecological audits across the Exclusive Economic Zone (EEZ) and coastal shelf waters[cite: 1, 2].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375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Marine Ecology &amp; NGOs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• Enables targeted retrieval of submerged ghost nets (ALDFG)[cite: 2].</a:t>
                      </a:r>
                    </a:p>
                    <a:p>
                      <a:r>
                        <a:rPr lang="en-US" sz="1200" dirty="0"/>
                        <a:t>• Breaks the continuous marine entrapment cycle and preserves sensitive coral reef ecosystems[cite: 2].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810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Ports &amp; Shipping Routes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• Delivers rapid post-disaster hydrographic surveys[cite: 1, 2].</a:t>
                      </a:r>
                    </a:p>
                    <a:p>
                      <a:r>
                        <a:rPr lang="en-US" sz="1200" dirty="0"/>
                        <a:t>• Detects sunken cargo containers, shipwrecks, and navigation hazards in active shipping channels[cite: 1, 2].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48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Offshore Utilities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• Automates routine subsea pipeline inspection and telecommunication cable route tracking[cite: 2].</a:t>
                      </a:r>
                    </a:p>
                    <a:p>
                      <a:r>
                        <a:rPr lang="en-IN" sz="1200" dirty="0"/>
                        <a:t>• Eliminates human operator fatigue during prolonged deep-sea monitoring missions[cite: 2].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96085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DFEDB1-FE90-EA4A-A6E0-30D36640C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76553"/>
              </p:ext>
            </p:extLst>
          </p:nvPr>
        </p:nvGraphicFramePr>
        <p:xfrm>
          <a:off x="1265246" y="3809563"/>
          <a:ext cx="9812592" cy="17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3148">
                  <a:extLst>
                    <a:ext uri="{9D8B030D-6E8A-4147-A177-3AD203B41FA5}">
                      <a16:colId xmlns:a16="http://schemas.microsoft.com/office/drawing/2014/main" val="400206052"/>
                    </a:ext>
                  </a:extLst>
                </a:gridCol>
                <a:gridCol w="2453148">
                  <a:extLst>
                    <a:ext uri="{9D8B030D-6E8A-4147-A177-3AD203B41FA5}">
                      <a16:colId xmlns:a16="http://schemas.microsoft.com/office/drawing/2014/main" val="388696281"/>
                    </a:ext>
                  </a:extLst>
                </a:gridCol>
                <a:gridCol w="2453148">
                  <a:extLst>
                    <a:ext uri="{9D8B030D-6E8A-4147-A177-3AD203B41FA5}">
                      <a16:colId xmlns:a16="http://schemas.microsoft.com/office/drawing/2014/main" val="3205854753"/>
                    </a:ext>
                  </a:extLst>
                </a:gridCol>
                <a:gridCol w="2453148">
                  <a:extLst>
                    <a:ext uri="{9D8B030D-6E8A-4147-A177-3AD203B41FA5}">
                      <a16:colId xmlns:a16="http://schemas.microsoft.com/office/drawing/2014/main" val="4030486775"/>
                    </a:ext>
                  </a:extLst>
                </a:gridCol>
              </a:tblGrid>
              <a:tr h="464439">
                <a:tc gridSpan="4"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CORE MEASURABLE BENEFITS OF THE SOLUTION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921367"/>
                  </a:ext>
                </a:extLst>
              </a:tr>
              <a:tr h="1323241">
                <a:tc>
                  <a:txBody>
                    <a:bodyPr/>
                    <a:lstStyle/>
                    <a:p>
                      <a:r>
                        <a:rPr lang="en-US" sz="1200" dirty="0"/>
                        <a:t>Operational Acceleration</a:t>
                      </a:r>
                    </a:p>
                    <a:p>
                      <a:r>
                        <a:rPr lang="en-US" sz="1200" dirty="0"/>
                        <a:t>• Metric: &gt; 90% Survey Review Cut[cite: 2]</a:t>
                      </a:r>
                    </a:p>
                    <a:p>
                      <a:r>
                        <a:rPr lang="en-US" sz="1200" dirty="0"/>
                        <a:t>• Automates manual waterfall log inspection from several days to real-time execution[cite: 2].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Clutter False-Alarm </a:t>
                      </a:r>
                      <a:r>
                        <a:rPr lang="en-IN" sz="1200" dirty="0" err="1"/>
                        <a:t>Defense</a:t>
                      </a:r>
                      <a:endParaRPr lang="en-IN" sz="1200" dirty="0"/>
                    </a:p>
                    <a:p>
                      <a:r>
                        <a:rPr lang="en-IN" sz="1200" dirty="0"/>
                        <a:t>• Metric: &lt; 3% False-Alarm Rate[cite: 2]</a:t>
                      </a:r>
                    </a:p>
                    <a:p>
                      <a:r>
                        <a:rPr lang="en-IN" sz="1200" dirty="0"/>
                        <a:t>• Combined D-RAV physics layer and GLCM texture penalty ensures high anomaly recall (≥ 95%)[cite: 2].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Edge Power Efficiency</a:t>
                      </a:r>
                    </a:p>
                    <a:p>
                      <a:r>
                        <a:rPr lang="en-US" sz="1200" dirty="0"/>
                        <a:t>• Metric: 15W – 50W Jetson Envelope[cite: 2]</a:t>
                      </a:r>
                    </a:p>
                    <a:p>
                      <a:r>
                        <a:rPr lang="en-US" sz="1200" dirty="0"/>
                        <a:t>• Direct deployment inside AUV dry payload hulls without requiring cloud computing links[cite: 2].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Open GIS Interoperability</a:t>
                      </a:r>
                    </a:p>
                    <a:p>
                      <a:r>
                        <a:rPr lang="en-IN" sz="1200"/>
                        <a:t>• Metric: Standardized OGC Exports[cite: 2]</a:t>
                      </a:r>
                    </a:p>
                    <a:p>
                      <a:r>
                        <a:rPr lang="en-IN" sz="1200"/>
                        <a:t>• Instant generation of WGS84 GeoJSON, Shapefile, and CSV audit reports for QGIS/ArcGIS[cite: 2].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763974"/>
                  </a:ext>
                </a:extLst>
              </a:tr>
            </a:tbl>
          </a:graphicData>
        </a:graphic>
      </p:graphicFrame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FE437181-C5FC-6247-293C-3548E75866C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3835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Half Squadron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111045" y="1144500"/>
            <a:ext cx="9385300" cy="3570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Key Publications &amp; Research Studies: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Zhou, Y., Chen, X., Tang, J., Gan, W., &amp; Zhang, Y. (2024). </a:t>
            </a:r>
            <a:r>
              <a:rPr lang="en-IN" i="1" dirty="0"/>
              <a:t>"A Multi-Scale Fusion Strategy for Side Scan Sonar Image Correction"</a:t>
            </a:r>
            <a:r>
              <a:rPr lang="en-IN" dirty="0"/>
              <a:t>. </a:t>
            </a:r>
            <a:r>
              <a:rPr lang="en-IN" i="1" dirty="0"/>
              <a:t>Remote Sensing</a:t>
            </a:r>
            <a:r>
              <a:rPr lang="en-IN" dirty="0"/>
              <a:t>, 16(10), 1752.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/>
              <a:t>"Physics-Informed Side-Scan Sonar Perception: Tackling Weak Targets and Sparse Debris via Geometric and Frequency Decoupling"</a:t>
            </a:r>
            <a:r>
              <a:rPr lang="en-IN" dirty="0"/>
              <a:t>. </a:t>
            </a:r>
            <a:r>
              <a:rPr lang="en-IN" i="1" dirty="0"/>
              <a:t>Sensors</a:t>
            </a:r>
            <a:r>
              <a:rPr lang="en-IN" dirty="0"/>
              <a:t> (2026), 26(6), 1938.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/>
              <a:t>"SW-Net: A Direction-Aware Deep Learning Model for Shipwreck Segmentation in Side-Scan Sonar Imagery"</a:t>
            </a:r>
            <a:r>
              <a:rPr lang="en-IN" dirty="0"/>
              <a:t>. </a:t>
            </a:r>
            <a:r>
              <a:rPr lang="en-IN" i="1" dirty="0"/>
              <a:t>Sensors</a:t>
            </a:r>
            <a:r>
              <a:rPr lang="en-IN" dirty="0"/>
              <a:t> (2026), 26(11), 3483.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/>
              <a:t>"AUV-Based Side-Scan Sonar Real-Time Method for Underwater Target Detection"</a:t>
            </a:r>
            <a:r>
              <a:rPr lang="en-IN" dirty="0"/>
              <a:t>. </a:t>
            </a:r>
            <a:r>
              <a:rPr lang="en-IN" i="1" dirty="0"/>
              <a:t>Journal of Marine Science and Engineering</a:t>
            </a:r>
            <a:r>
              <a:rPr lang="en-IN" dirty="0"/>
              <a:t> (2023), 11(4), 690[2].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 dirty="0" err="1"/>
              <a:t>GhostNetZero</a:t>
            </a:r>
            <a:r>
              <a:rPr lang="en-IN" i="1" dirty="0"/>
              <a:t> / Puget Sound SSS Dataset</a:t>
            </a:r>
            <a:r>
              <a:rPr lang="en-IN" dirty="0"/>
              <a:t> (WWF Germany / Microsoft AI for Good, 2024)[2].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3835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Half Squadron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7538</TotalTime>
  <Words>2211</Words>
  <Application>Microsoft Office PowerPoint</Application>
  <PresentationFormat>Widescreen</PresentationFormat>
  <Paragraphs>152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Adittya Seetharaman</cp:lastModifiedBy>
  <cp:revision>152</cp:revision>
  <dcterms:created xsi:type="dcterms:W3CDTF">2013-12-12T18:46:50Z</dcterms:created>
  <dcterms:modified xsi:type="dcterms:W3CDTF">2026-09-01T16:21:01Z</dcterms:modified>
  <cp:category/>
</cp:coreProperties>
</file>