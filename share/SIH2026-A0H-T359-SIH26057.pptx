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0asKf113mDGNe4Foz24rJhwec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66ACBD-4071-4300-8BE7-28BA64AFE0E8}">
  <a:tblStyle styleId="{3A66ACBD-4071-4300-8BE7-28BA64AFE0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c6f32846444ba62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7c6f32846444ba6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7c6f32846444ba62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5" y="2076450"/>
            <a:ext cx="10454701" cy="468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SIH26057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Automated Underwater Marine Debris and Anomaly Detection System using Side-Scan Sonar Imagery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Disaster Management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ID-SIH26-A0H-T359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Name-Half Squadron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05" name="Google Shape;105;p2"/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 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3168150" y="208800"/>
            <a:ext cx="873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64500" y="1823100"/>
            <a:ext cx="2844900" cy="807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64500" y="2594650"/>
            <a:ext cx="2844900" cy="364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382600" y="1823100"/>
            <a:ext cx="2844900" cy="807300"/>
          </a:xfrm>
          <a:prstGeom prst="rect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673550" y="1823100"/>
            <a:ext cx="2844900" cy="8073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382600" y="2594650"/>
            <a:ext cx="2844900" cy="3644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673550" y="2579225"/>
            <a:ext cx="2844900" cy="3644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90050" y="1841600"/>
            <a:ext cx="28194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704175" y="1887850"/>
            <a:ext cx="2755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372050" y="1857025"/>
            <a:ext cx="28194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UNIQUENESS 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975050" y="2594650"/>
            <a:ext cx="2844900" cy="3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volumes of raw sonar data require time-consuming manual inspection.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Motion, noise and radiometric variations degrade sonar image quality.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detections can produce false alarms from rocks, sand ripples and reverberation.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 debris location and real-time mapping are difficult offshore.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668275" y="2643000"/>
            <a:ext cx="2844900" cy="3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preprocessing corrects motion, gain variation and sonar noise.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Dual-branch AI detects rigid debris and segments diffuse fishing nets.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D-RAV physics verification validates detections using acoustic shadow and attenuation.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AI + WGS84 georeferencing provides real-time detection and location.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372050" y="2643000"/>
            <a:ext cx="2844900" cy="3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 both rigid objects and porous ghost nets in one system.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offline on Jetson Orin, enabling rapid onboard processing.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Delivers confidence-scored, georeferenced results with GeoJSON/Shapefile export.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7" name="Google Shape;127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Google Shape;129;p3"/>
          <p:cNvGraphicFramePr/>
          <p:nvPr/>
        </p:nvGraphicFramePr>
        <p:xfrm>
          <a:off x="1061884" y="14613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{3A66ACBD-4071-4300-8BE7-28BA64AFE0E8}</a:tableStyleId>
              </a:tblPr>
              <a:tblGrid>
                <a:gridCol w="2630125"/>
                <a:gridCol w="2630125"/>
                <a:gridCol w="2630125"/>
                <a:gridCol w="2630125"/>
              </a:tblGrid>
              <a:tr h="3772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TECHNICAL ARCHITECTURE &amp; MATHEMATICAL ENGINE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</a:tr>
              <a:tr h="409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TELEMETRY INGESTION &amp; HYDROACOUSTIC PREPROCESSING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Raw Binary Ingestion: Multi-threaded decoding of .xtf, .jsf, and .sdf streams with synchronous navigation packet extraction[cite: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Kinematic Rectification: Corrects vehicle heave, pitch, and speed jitter via cubic Hermite spline interpolation (Δy = SOG · Δt)[cite: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Radiometric Normalization: Excises nadir blind zone; applies EGN and TVG to equalize cross-track acoustic transmission loss[cite: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Multi-Scale NSST Despeckling: High-frequency directional soft-thresholding suppresses Rayleigh noise while preserving sharp shadow boundaries[cite: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Slant-to-Ground Conversion: x_ground = √((u · δr)² - H_alt²)[cite: 2]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DUAL-BRANCH DEEP LEARNING CORE (HYDRODEBRIS-NET)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Feature Backbone: Wavelet-embedded CSPDarknet using 2D DWT downsampling to isolate structural contours from acoustic reverberation[cite: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Directional Filters: Integrates Directional Filter Banks (DFB) to capture linear and woven synthetic geometries absent in isotropic clutter[cite: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Multi-Scale Neck: BiFPN augmented with Efficient Multi-Scale Attention (EMA) to preserve spatial features of small and narrow debris[cite: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Branch A (Rigid Anomalies): Predicts oriented bounding boxes [x, y, w, h, θ_rot, class] for pipes, drums, containers, and shipwrecks[cite: 2].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Branch B (Diffuse Debris): Predicts pixel-level semantic masks via Focal-Dice objective: L_BranchB = L_Focal(M, M̂) + L_Dice(M, M̂)[cite: 2].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D-RAV PHYSICS VERIFICATION &amp; CALIBRATED CONFIDENCE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Theoretical Shadow Geometry: L_theoretical = (ĥ_o · √(R_s² - H_alt²)) / (H_alt - ĥ_o)[cite: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Regime 1 (Rigid Opaque Loss): L_Phys = |L̂_s - (ĥ_o · √(R_s² - H_alt²)) / (H_alt - ĥ_o)|[cite: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Dynamic Acoustic Uncertainty: σ_acoustic = √(δr² + (R_s / H_alt · σ_alt)²) ≈ 0.15 m to 1.00 m[cite: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Regime 2 (Porous Net Transmittance): S_net = clip((Ī_ambient - Ī_downstream) / (Ī_ambient · (1 - κ_trans)), 0, 1)[cite: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Calibrated Confidence Scoring: C_final = (0.50 · P_class + 0.35 · S_phys + 0.15 · (1 - Clutter_GLCM)) × 100%[cite: 2]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D-RAV PHYSICS VERIFICATION &amp; CALIBRATED CONFIDENCE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Theoretical Shadow Geometry: L_theoretical = (ĥ_o · √(R_s² - H_alt²)) / (H_alt - ĥ_o)[cite: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Regime 1 (Rigid Opaque Loss): L_Phys = |L̂_s - (ĥ_o · √(R_s² - H_alt²)) / (H_alt - ĥ_o)|[cite: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Dynamic Acoustic Uncertainty: σ_acoustic = √(δr² + (R_s / H_alt · σ_alt)²) ≈ 0.15 m to 1.00 m[cite: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Regime 2 (Porous Net Transmittance): S_net = clip((Ī_ambient - Ī_downstream) / (Ī_ambient · (1 - κ_trans)), 0, 1)[cite: 2]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• Calibrated Confidence Scoring: C_final = (0.50 · P_class + 0.35 · S_phys + 0.15 · (1 - Clutter_GLCM)) × 100%[cite: 2]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descr="Your startup LOGO" id="130" name="Google Shape;130;p3"/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 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8" name="Google Shape;138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4"/>
          <p:cNvGraphicFramePr/>
          <p:nvPr/>
        </p:nvGraphicFramePr>
        <p:xfrm>
          <a:off x="931062" y="1095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{3A66ACBD-4071-4300-8BE7-28BA64AFE0E8}</a:tableStyleId>
              </a:tblPr>
              <a:tblGrid>
                <a:gridCol w="3443300"/>
                <a:gridCol w="3443300"/>
                <a:gridCol w="3443300"/>
              </a:tblGrid>
              <a:tr h="26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Analysis of Feasibility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Potential Challenges &amp; Risks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Mitigation Strategies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93150"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Power: &lt;35W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Memory: &lt;4GB VRAM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Deployment: INT8 TensorRT on NVIDIA Jetson AGX Orin / Orin NX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Target Power Range: 15–50W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/>
                        <a:t>Compute &amp; Memory Budget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Power: &lt;35W | VRAM: &lt;4GB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Engine: INT8 TensorRT optimized for Jetson AGX Orin / Orin NX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Target: Low-power, real-time edge deployment.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Directional NSST Denoising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​Speckle Suppression: High-frequency directional sub-band soft thresholding mitigates multiplicative noise.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​Edge Preservation: Retains critical shadow boundaries and fine structural netting edges.</a:t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91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/>
                        <a:t>Real-Time Pipeline Latency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Throughput: ≥35 pings/sec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Processing: Triple-buffered asynchronous CUDA streams minimize I/O bottlenecks and survey delays.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Porous Ghost Net Shadow Ambiguity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​Acoustic Translucency: Permeable polymer netting allows partial acoustic signal transmission.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​Detection Failure: Conventional solid-body shadow checkers register false-negative drop signatures.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Regime 2 Transmittance Attenuation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​Downstream Assessment: Computes downstream backscatter drop against the empirical baseline.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​Non-Solid Validation: Verifies porous gear without requiring a solid, hard-cast shadow.</a:t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91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/>
                        <a:t>Real-Time Pipeline Latency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Throughput: ≥35 pings/sec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Processing: Triple-buffered CUDA streams minimize I/O bottlenecks and delays.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Seabed Clutter &amp; Rocky False Positives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​Benthic Mimicry: Sand ripples and rock outcroppings replicate synthetic target geometries.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​Operational Impact: Elevates false-alarm rates within complex natural terrain.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Ray-Tracing Physics 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​Geometric Enforcement: Enforces strict height-to-shadow ratios via acoustic projection modeling.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​Artifact Penalization: Suppresses flat 2D visual outputs lacking proportional acoustic shadow length.</a:t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79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/>
                        <a:t>100% Native &amp; Air-Gapped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Zero cloud dependencies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Self-contained C++/CUDA binary for secure AUV deployment.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Vehicle Motion Jitter &amp; USBL Dropouts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​Geometric Distortion: Towing speed fluctuations alter along-track aspect ratios.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​Positioning Loss: Acoustic navigation dropouts result in unreferenced anomaly detections.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Hermite Splines &amp; Local Dead-Reckoning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​Grid Resampling: Resamples waterfall grids via SOG \cdot \Delta t using cubic Hermite splines.</a:t>
                      </a:r>
                      <a:endParaRPr sz="1100"/>
                    </a:p>
                    <a:p>
                      <a:pPr indent="-2984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IN" sz="1100"/>
                        <a:t>​Navigation Redundancy: Falls back to local metric tracking during inertial navigation system outages.</a:t>
                      </a:r>
                      <a:endParaRPr sz="11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descr="Your startup LOGO" id="142" name="Google Shape;142;p4"/>
          <p:cNvSpPr/>
          <p:nvPr/>
        </p:nvSpPr>
        <p:spPr>
          <a:xfrm>
            <a:off x="329773" y="252246"/>
            <a:ext cx="1538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 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c6f32846444ba62_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9" name="Google Shape;149;g7c6f32846444ba6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8400"/>
            <a:ext cx="12192002" cy="700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>
            <p:ph idx="4294967295"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1111045" y="1144500"/>
            <a:ext cx="9385300" cy="357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Publications &amp; Research Studies: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Zhou, Y., Chen, X., Tang, J., Gan, W., &amp; Zhang, Y. (2024). 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"A Multi-Scale Fusion Strategy for Side Scan Sonar Image Correction"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Remote Sensing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16(10), 1752.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"Physics-Informed Side-Scan Sonar Perception: Tackling Weak Targets and Sparse Debris via Geometric and Frequency Decoupling"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(2026), 26(6), 1938.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"SW-Net: A Direction-Aware Deep Learning Model for Shipwreck Segmentation in Side-Scan Sonar Imagery"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(2026), 26(11), 3483.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"AUV-Based Side-Scan Sonar Real-Time Method for Underwater Target Detection"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Journal of Marine Science and Engineering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(2023), 11(4), 690[2].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GhostNetZero / Puget Sound SSS Dataset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(WWF Germany / Microsoft AI for Good, 2024)[2].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9" name="Google Shape;159;p6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0" name="Google Shape;160;p6"/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 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